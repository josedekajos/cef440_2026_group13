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70" r:id="rId10"/>
    <p:sldId id="263" r:id="rId11"/>
    <p:sldId id="264" r:id="rId12"/>
    <p:sldId id="265" r:id="rId13"/>
    <p:sldId id="271" r:id="rId14"/>
    <p:sldId id="266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9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594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70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110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65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CrowdSenseNet</a:t>
            </a:r>
            <a:endParaRPr lang="en-US" sz="6000" dirty="0">
              <a:latin typeface="Algerian" panose="04020705040A02060702" pitchFamily="8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30200" y="188595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u="sng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Modelling and Design</a:t>
            </a:r>
            <a:endParaRPr lang="en-US" sz="4000" b="1" u="sng" dirty="0"/>
          </a:p>
        </p:txBody>
      </p:sp>
      <p:sp>
        <p:nvSpPr>
          <p:cNvPr id="6" name="Text 4"/>
          <p:cNvSpPr/>
          <p:nvPr/>
        </p:nvSpPr>
        <p:spPr>
          <a:xfrm>
            <a:off x="1153160" y="2764155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Crowdsensed Drive </a:t>
            </a:r>
            <a:endParaRPr lang="en-US" sz="2400" b="1" i="1" dirty="0" smtClean="0">
              <a:solidFill>
                <a:srgbClr val="CBD5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b="1" i="1" dirty="0" smtClean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</a:t>
            </a:r>
            <a:r>
              <a:rPr lang="en-US" sz="2400" b="1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Coverage Prediction</a:t>
            </a:r>
            <a:endParaRPr lang="en-US" sz="2400" b="1" dirty="0"/>
          </a:p>
        </p:txBody>
      </p:sp>
      <p:sp>
        <p:nvSpPr>
          <p:cNvPr id="7" name="Shape 5"/>
          <p:cNvSpPr/>
          <p:nvPr/>
        </p:nvSpPr>
        <p:spPr>
          <a:xfrm>
            <a:off x="2098040" y="3788473"/>
            <a:ext cx="5486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3200" b="1"/>
          </a:p>
        </p:txBody>
      </p:sp>
      <p:sp>
        <p:nvSpPr>
          <p:cNvPr id="8" name="Text 6"/>
          <p:cNvSpPr/>
          <p:nvPr/>
        </p:nvSpPr>
        <p:spPr>
          <a:xfrm>
            <a:off x="502920" y="4191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– Internet &amp; Mobile Programming  |  University of Buea  |  Group 13  | 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 b="1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b="1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users in Cameroon face daily issues: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Weak signals &amp; call drops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 internet &amp; coverage gaps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Rural areas left unmapped</a:t>
            </a: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drive testing is slow, costly, and covers only roads engineers physically travel.</a:t>
            </a:r>
            <a:endParaRPr lang="en-US" sz="1600" b="1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14400"/>
            <a:ext cx="42062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CrowdSenseNet</a:t>
            </a:r>
            <a:endParaRPr lang="en-US" b="1" dirty="0"/>
          </a:p>
        </p:txBody>
      </p:sp>
      <p:sp>
        <p:nvSpPr>
          <p:cNvPr id="11" name="Text 9"/>
          <p:cNvSpPr/>
          <p:nvPr/>
        </p:nvSpPr>
        <p:spPr>
          <a:xfrm>
            <a:off x="4663440" y="146304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Android smartphones into passive signal measurement devices.</a:t>
            </a: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priorities: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Full data anonymisation (UUID-based)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 Adaptive sampling (&lt;5% battery/hour)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GPS accuracy filtering (15m threshold)</a:t>
            </a:r>
            <a:endParaRPr lang="en-US" sz="16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Modelling Methodology</a:t>
            </a:r>
            <a:endParaRPr lang="en-US" sz="2800" b="1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</a:t>
            </a:r>
            <a:endParaRPr lang="en-US" sz="1600" b="1" dirty="0"/>
          </a:p>
        </p:txBody>
      </p:sp>
      <p:sp>
        <p:nvSpPr>
          <p:cNvPr id="7" name="Shape 5"/>
          <p:cNvSpPr/>
          <p:nvPr/>
        </p:nvSpPr>
        <p:spPr>
          <a:xfrm>
            <a:off x="365760" y="134416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4416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050" b="1" dirty="0"/>
          </a:p>
        </p:txBody>
      </p:sp>
      <p:sp>
        <p:nvSpPr>
          <p:cNvPr id="9" name="Text 7"/>
          <p:cNvSpPr/>
          <p:nvPr/>
        </p:nvSpPr>
        <p:spPr>
          <a:xfrm>
            <a:off x="365760" y="16184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system boundary &amp; external actors</a:t>
            </a:r>
            <a:endParaRPr lang="en-US" sz="1400" b="1" dirty="0"/>
          </a:p>
        </p:txBody>
      </p:sp>
      <p:sp>
        <p:nvSpPr>
          <p:cNvPr id="10" name="Shape 8"/>
          <p:cNvSpPr/>
          <p:nvPr/>
        </p:nvSpPr>
        <p:spPr>
          <a:xfrm>
            <a:off x="3218688" y="86868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868680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960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1600" b="1" dirty="0"/>
          </a:p>
        </p:txBody>
      </p:sp>
      <p:sp>
        <p:nvSpPr>
          <p:cNvPr id="13" name="Shape 11"/>
          <p:cNvSpPr/>
          <p:nvPr/>
        </p:nvSpPr>
        <p:spPr>
          <a:xfrm>
            <a:off x="3310128" y="134416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34416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050" b="1" dirty="0"/>
          </a:p>
        </p:txBody>
      </p:sp>
      <p:sp>
        <p:nvSpPr>
          <p:cNvPr id="15" name="Text 13"/>
          <p:cNvSpPr/>
          <p:nvPr/>
        </p:nvSpPr>
        <p:spPr>
          <a:xfrm>
            <a:off x="3310128" y="16184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data movement through internal processes</a:t>
            </a:r>
            <a:endParaRPr lang="en-US" sz="1400" b="1" dirty="0"/>
          </a:p>
        </p:txBody>
      </p:sp>
      <p:sp>
        <p:nvSpPr>
          <p:cNvPr id="16" name="Shape 14"/>
          <p:cNvSpPr/>
          <p:nvPr/>
        </p:nvSpPr>
        <p:spPr>
          <a:xfrm>
            <a:off x="6163056" y="86868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86868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254496" y="960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6254496" y="134416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254496" y="134416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</a:t>
            </a:r>
            <a:endParaRPr lang="en-US" sz="1050" b="1" dirty="0"/>
          </a:p>
        </p:txBody>
      </p:sp>
      <p:sp>
        <p:nvSpPr>
          <p:cNvPr id="21" name="Text 19"/>
          <p:cNvSpPr/>
          <p:nvPr/>
        </p:nvSpPr>
        <p:spPr>
          <a:xfrm>
            <a:off x="6254496" y="16184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functional actor-system interactions</a:t>
            </a:r>
            <a:endParaRPr lang="en-US" sz="1400" b="1" dirty="0"/>
          </a:p>
        </p:txBody>
      </p:sp>
      <p:sp>
        <p:nvSpPr>
          <p:cNvPr id="22" name="Shape 20"/>
          <p:cNvSpPr/>
          <p:nvPr/>
        </p:nvSpPr>
        <p:spPr>
          <a:xfrm>
            <a:off x="274320" y="2487168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487168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578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600" b="1" dirty="0"/>
          </a:p>
        </p:txBody>
      </p:sp>
      <p:sp>
        <p:nvSpPr>
          <p:cNvPr id="25" name="Shape 23"/>
          <p:cNvSpPr/>
          <p:nvPr/>
        </p:nvSpPr>
        <p:spPr>
          <a:xfrm>
            <a:off x="365760" y="2962656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96265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</a:t>
            </a:r>
            <a:endParaRPr lang="en-US" sz="1050" b="1" dirty="0"/>
          </a:p>
        </p:txBody>
      </p:sp>
      <p:sp>
        <p:nvSpPr>
          <p:cNvPr id="27" name="Text 25"/>
          <p:cNvSpPr/>
          <p:nvPr/>
        </p:nvSpPr>
        <p:spPr>
          <a:xfrm>
            <a:off x="365760" y="32369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 message flow for core scenario</a:t>
            </a:r>
            <a:endParaRPr lang="en-US" sz="1400" b="1" dirty="0"/>
          </a:p>
        </p:txBody>
      </p:sp>
      <p:sp>
        <p:nvSpPr>
          <p:cNvPr id="28" name="Shape 26"/>
          <p:cNvSpPr/>
          <p:nvPr/>
        </p:nvSpPr>
        <p:spPr>
          <a:xfrm>
            <a:off x="3218688" y="2487168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18688" y="2487168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3310128" y="2578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600" b="1" dirty="0"/>
          </a:p>
        </p:txBody>
      </p:sp>
      <p:sp>
        <p:nvSpPr>
          <p:cNvPr id="31" name="Shape 29"/>
          <p:cNvSpPr/>
          <p:nvPr/>
        </p:nvSpPr>
        <p:spPr>
          <a:xfrm>
            <a:off x="3310128" y="2962656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3310128" y="296265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050" b="1" dirty="0"/>
          </a:p>
        </p:txBody>
      </p:sp>
      <p:sp>
        <p:nvSpPr>
          <p:cNvPr id="33" name="Text 31"/>
          <p:cNvSpPr/>
          <p:nvPr/>
        </p:nvSpPr>
        <p:spPr>
          <a:xfrm>
            <a:off x="3310128" y="32369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MVVM architecture of the Android app</a:t>
            </a:r>
            <a:endParaRPr lang="en-US" sz="1400" b="1" dirty="0"/>
          </a:p>
        </p:txBody>
      </p:sp>
      <p:sp>
        <p:nvSpPr>
          <p:cNvPr id="34" name="Shape 32"/>
          <p:cNvSpPr/>
          <p:nvPr/>
        </p:nvSpPr>
        <p:spPr>
          <a:xfrm>
            <a:off x="6163056" y="2487168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2487168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6254496" y="2578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Diagram</a:t>
            </a:r>
            <a:endParaRPr lang="en-US" sz="1600" b="1" dirty="0"/>
          </a:p>
        </p:txBody>
      </p:sp>
      <p:sp>
        <p:nvSpPr>
          <p:cNvPr id="37" name="Shape 35"/>
          <p:cNvSpPr/>
          <p:nvPr/>
        </p:nvSpPr>
        <p:spPr>
          <a:xfrm>
            <a:off x="6254496" y="2962656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6254496" y="296265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050" b="1" dirty="0"/>
          </a:p>
        </p:txBody>
      </p:sp>
      <p:sp>
        <p:nvSpPr>
          <p:cNvPr id="39" name="Text 37"/>
          <p:cNvSpPr/>
          <p:nvPr/>
        </p:nvSpPr>
        <p:spPr>
          <a:xfrm>
            <a:off x="6254496" y="32369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components across physical nodes</a:t>
            </a:r>
            <a:endParaRPr lang="en-US" sz="1400" b="1" dirty="0"/>
          </a:p>
        </p:txBody>
      </p:sp>
      <p:sp>
        <p:nvSpPr>
          <p:cNvPr id="40" name="Text 38"/>
          <p:cNvSpPr/>
          <p:nvPr/>
        </p:nvSpPr>
        <p:spPr>
          <a:xfrm>
            <a:off x="274320" y="4176999"/>
            <a:ext cx="8595360" cy="717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b="1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used: draw.io and EdrawMax  |  Approach: Top-down iterative </a:t>
            </a:r>
            <a:r>
              <a:rPr lang="en-US" b="1" i="1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i="1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</a:t>
            </a:r>
            <a:r>
              <a:rPr lang="en-US" b="1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Class → Deployment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96"/>
          <a:stretch/>
        </p:blipFill>
        <p:spPr bwMode="auto">
          <a:xfrm>
            <a:off x="4187952" y="863905"/>
            <a:ext cx="4937760" cy="40017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Context Diagram</a:t>
            </a:r>
            <a:endParaRPr lang="en-US" sz="3200" b="1" dirty="0">
              <a:latin typeface="Algerian" panose="04020705040A02060702" pitchFamily="82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0" y="685800"/>
            <a:ext cx="2011680" cy="2176272"/>
            <a:chOff x="137160" y="1234440"/>
            <a:chExt cx="2011680" cy="2407920"/>
          </a:xfrm>
        </p:grpSpPr>
        <p:sp>
          <p:nvSpPr>
            <p:cNvPr id="5" name="Shape 3"/>
            <p:cNvSpPr/>
            <p:nvPr/>
          </p:nvSpPr>
          <p:spPr>
            <a:xfrm>
              <a:off x="137160" y="1264920"/>
              <a:ext cx="2011680" cy="2377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sz="2800" b="1"/>
            </a:p>
          </p:txBody>
        </p:sp>
        <p:sp>
          <p:nvSpPr>
            <p:cNvPr id="6" name="Shape 4"/>
            <p:cNvSpPr/>
            <p:nvPr/>
          </p:nvSpPr>
          <p:spPr>
            <a:xfrm>
              <a:off x="137160" y="1234440"/>
              <a:ext cx="2011680" cy="45720"/>
            </a:xfrm>
            <a:prstGeom prst="rect">
              <a:avLst/>
            </a:prstGeom>
            <a:solidFill>
              <a:srgbClr val="028090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210312" y="1298448"/>
              <a:ext cx="18745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Users</a:t>
              </a:r>
              <a:endParaRPr lang="en-US" b="1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10312" y="1691640"/>
              <a:ext cx="18745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Sends:</a:t>
              </a:r>
              <a:endParaRPr lang="en-US" sz="1200" b="1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10312" y="1920240"/>
              <a:ext cx="187452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Signal readings, consent, toggle</a:t>
              </a:r>
              <a:endParaRPr lang="en-US" sz="1200" b="1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2633472"/>
              <a:ext cx="18745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C3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Receives:</a:t>
              </a:r>
              <a:endParaRPr lang="en-US" sz="1200" b="1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10312" y="2862072"/>
              <a:ext cx="187452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Coverage feedback, upload status</a:t>
              </a:r>
              <a:endParaRPr lang="en-US" sz="1200" b="1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176272" y="693420"/>
            <a:ext cx="2011680" cy="2168652"/>
            <a:chOff x="2377440" y="1234440"/>
            <a:chExt cx="2011680" cy="2377440"/>
          </a:xfrm>
        </p:grpSpPr>
        <p:sp>
          <p:nvSpPr>
            <p:cNvPr id="12" name="Shape 10"/>
            <p:cNvSpPr/>
            <p:nvPr/>
          </p:nvSpPr>
          <p:spPr>
            <a:xfrm>
              <a:off x="2377440" y="1234440"/>
              <a:ext cx="2011680" cy="2377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2377440" y="1234440"/>
              <a:ext cx="2011680" cy="45720"/>
            </a:xfrm>
            <a:prstGeom prst="rect">
              <a:avLst/>
            </a:prstGeom>
            <a:solidFill>
              <a:srgbClr val="028090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2450592" y="1298448"/>
              <a:ext cx="18745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Network Engineers</a:t>
              </a:r>
              <a:endParaRPr lang="en-US" sz="1600" b="1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450592" y="1691640"/>
              <a:ext cx="18745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Sends:</a:t>
              </a:r>
              <a:endParaRPr lang="en-US" sz="1200" b="1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450592" y="1920240"/>
              <a:ext cx="187452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Map &amp; export requests</a:t>
              </a:r>
              <a:endParaRPr lang="en-US" sz="1200" b="1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450592" y="2633472"/>
              <a:ext cx="18745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C3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Receives:</a:t>
              </a:r>
              <a:endParaRPr lang="en-US" sz="1200" b="1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450592" y="2862072"/>
              <a:ext cx="187452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Heatmaps, GeoJSON/CSV exports</a:t>
              </a:r>
              <a:endParaRPr lang="en-US" sz="1200" b="1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0" y="2987040"/>
            <a:ext cx="2011680" cy="2072640"/>
            <a:chOff x="4617720" y="1234440"/>
            <a:chExt cx="2011680" cy="2377440"/>
          </a:xfrm>
        </p:grpSpPr>
        <p:sp>
          <p:nvSpPr>
            <p:cNvPr id="19" name="Shape 17"/>
            <p:cNvSpPr/>
            <p:nvPr/>
          </p:nvSpPr>
          <p:spPr>
            <a:xfrm>
              <a:off x="4617720" y="1234440"/>
              <a:ext cx="2011680" cy="2377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4617720" y="1234440"/>
              <a:ext cx="2011680" cy="45720"/>
            </a:xfrm>
            <a:prstGeom prst="rect">
              <a:avLst/>
            </a:prstGeom>
            <a:solidFill>
              <a:srgbClr val="028090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4690872" y="1298448"/>
              <a:ext cx="18745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Regulators</a:t>
              </a:r>
              <a:endParaRPr lang="en-US" b="1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690872" y="1691640"/>
              <a:ext cx="18745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Sends:</a:t>
              </a:r>
              <a:endParaRPr lang="en-US" sz="1200" b="1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690872" y="1920240"/>
              <a:ext cx="187452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Privacy guidelines</a:t>
              </a:r>
              <a:endParaRPr lang="en-US" sz="1200" b="1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690872" y="2633472"/>
              <a:ext cx="18745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C3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Receives:</a:t>
              </a:r>
              <a:endParaRPr lang="en-US" sz="1200" b="1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690872" y="2862072"/>
              <a:ext cx="187452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Anonymisation compliance reports</a:t>
              </a:r>
              <a:endParaRPr lang="en-US" sz="1200" b="1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176272" y="3006969"/>
            <a:ext cx="2011680" cy="2059207"/>
            <a:chOff x="6858000" y="1234440"/>
            <a:chExt cx="2011680" cy="2377440"/>
          </a:xfrm>
        </p:grpSpPr>
        <p:sp>
          <p:nvSpPr>
            <p:cNvPr id="26" name="Shape 24"/>
            <p:cNvSpPr/>
            <p:nvPr/>
          </p:nvSpPr>
          <p:spPr>
            <a:xfrm>
              <a:off x="6858000" y="1234440"/>
              <a:ext cx="2011680" cy="2377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7" name="Shape 25"/>
            <p:cNvSpPr/>
            <p:nvPr/>
          </p:nvSpPr>
          <p:spPr>
            <a:xfrm>
              <a:off x="6858000" y="1234440"/>
              <a:ext cx="2011680" cy="45720"/>
            </a:xfrm>
            <a:prstGeom prst="rect">
              <a:avLst/>
            </a:prstGeom>
            <a:solidFill>
              <a:srgbClr val="028090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6931152" y="1298448"/>
              <a:ext cx="18745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Supervisors</a:t>
              </a:r>
              <a:endParaRPr lang="en-US" b="1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931152" y="1691640"/>
              <a:ext cx="18745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Sends:</a:t>
              </a:r>
              <a:endParaRPr lang="en-US" sz="1200" b="1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6931152" y="1920240"/>
              <a:ext cx="187452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Validation feedback</a:t>
              </a:r>
              <a:endParaRPr lang="en-US" sz="1200" b="1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6931152" y="2633472"/>
              <a:ext cx="18745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C3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Receives:</a:t>
              </a:r>
              <a:endParaRPr lang="en-US" sz="1200" b="1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6931152" y="2862072"/>
              <a:ext cx="187452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Project documentation</a:t>
              </a:r>
              <a:endParaRPr lang="en-US" sz="12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30988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 sz="2400" b="1"/>
          </a:p>
        </p:txBody>
      </p:sp>
      <p:sp>
        <p:nvSpPr>
          <p:cNvPr id="3" name="Text 1"/>
          <p:cNvSpPr/>
          <p:nvPr/>
        </p:nvSpPr>
        <p:spPr>
          <a:xfrm>
            <a:off x="365760" y="812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Data Flow Diagram (Level 1)</a:t>
            </a:r>
            <a:endParaRPr lang="en-US" sz="2800" b="1" dirty="0">
              <a:latin typeface="Algerian" panose="04020705040A02060702" pitchFamily="82" charset="0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137160" y="2847848"/>
            <a:ext cx="2560320" cy="960120"/>
            <a:chOff x="6446520" y="777240"/>
            <a:chExt cx="2560320" cy="960120"/>
          </a:xfrm>
        </p:grpSpPr>
        <p:sp>
          <p:nvSpPr>
            <p:cNvPr id="12" name="Shape 10"/>
            <p:cNvSpPr/>
            <p:nvPr/>
          </p:nvSpPr>
          <p:spPr>
            <a:xfrm>
              <a:off x="6446520" y="777240"/>
              <a:ext cx="2560320" cy="96012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9050">
              <a:solidFill>
                <a:srgbClr val="02809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3" name="Text 11"/>
            <p:cNvSpPr/>
            <p:nvPr/>
          </p:nvSpPr>
          <p:spPr>
            <a:xfrm>
              <a:off x="6519672" y="832104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P3.0</a:t>
              </a:r>
              <a:endParaRPr lang="en-US" sz="1100" b="1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519672" y="1051560"/>
              <a:ext cx="2414016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 Storage Management</a:t>
              </a:r>
              <a:endParaRPr lang="en-US" sz="1400" b="1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519672" y="1371600"/>
              <a:ext cx="2414016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Room DB, 50MB cap, offline-first</a:t>
              </a:r>
              <a:endParaRPr lang="en-US" sz="1050" b="1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37160" y="777240"/>
            <a:ext cx="2560320" cy="960120"/>
            <a:chOff x="137160" y="777240"/>
            <a:chExt cx="2560320" cy="960120"/>
          </a:xfrm>
        </p:grpSpPr>
        <p:sp>
          <p:nvSpPr>
            <p:cNvPr id="4" name="Shape 2"/>
            <p:cNvSpPr/>
            <p:nvPr/>
          </p:nvSpPr>
          <p:spPr>
            <a:xfrm>
              <a:off x="137160" y="777240"/>
              <a:ext cx="2560320" cy="96012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9050">
              <a:solidFill>
                <a:srgbClr val="02809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Text 3"/>
            <p:cNvSpPr/>
            <p:nvPr/>
          </p:nvSpPr>
          <p:spPr>
            <a:xfrm>
              <a:off x="210312" y="832104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P1.0</a:t>
              </a:r>
              <a:endParaRPr lang="en-US" sz="1100" b="1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10312" y="1051560"/>
              <a:ext cx="2414016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 Consent &amp; Onboarding</a:t>
              </a:r>
              <a:endParaRPr lang="en-US" sz="1400" b="1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210312" y="1371600"/>
              <a:ext cx="2414016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Generates UUID, stores in encrypted prefs</a:t>
              </a:r>
              <a:endParaRPr lang="en-US" sz="1050" b="1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37160" y="3919347"/>
            <a:ext cx="2560320" cy="960120"/>
            <a:chOff x="137160" y="1874520"/>
            <a:chExt cx="2560320" cy="960120"/>
          </a:xfrm>
        </p:grpSpPr>
        <p:sp>
          <p:nvSpPr>
            <p:cNvPr id="16" name="Shape 14"/>
            <p:cNvSpPr/>
            <p:nvPr/>
          </p:nvSpPr>
          <p:spPr>
            <a:xfrm>
              <a:off x="137160" y="1874520"/>
              <a:ext cx="2560320" cy="96012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9050">
              <a:solidFill>
                <a:srgbClr val="02809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7" name="Text 15"/>
            <p:cNvSpPr/>
            <p:nvPr/>
          </p:nvSpPr>
          <p:spPr>
            <a:xfrm>
              <a:off x="210312" y="1929384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P4.0</a:t>
              </a:r>
              <a:endParaRPr lang="en-US" sz="1100" b="1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10312" y="2148840"/>
              <a:ext cx="2414016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Upload &amp; Sync</a:t>
              </a:r>
              <a:endParaRPr lang="en-US" sz="1400" b="1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10312" y="2468880"/>
              <a:ext cx="2414016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HTTPS/TLS 1.2, WiFi default, 30min retry</a:t>
              </a:r>
              <a:endParaRPr lang="en-US" sz="1050" b="1" dirty="0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37160" y="1784858"/>
            <a:ext cx="2560320" cy="960120"/>
            <a:chOff x="2875280" y="800100"/>
            <a:chExt cx="2560320" cy="960120"/>
          </a:xfrm>
        </p:grpSpPr>
        <p:sp>
          <p:nvSpPr>
            <p:cNvPr id="8" name="Shape 6"/>
            <p:cNvSpPr/>
            <p:nvPr/>
          </p:nvSpPr>
          <p:spPr>
            <a:xfrm>
              <a:off x="2875280" y="800100"/>
              <a:ext cx="2560320" cy="96012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9050">
              <a:solidFill>
                <a:srgbClr val="02809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2948432" y="854964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P2.0</a:t>
              </a:r>
              <a:endParaRPr lang="en-US" sz="1100" b="1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948432" y="1074420"/>
              <a:ext cx="2414016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Signal Data Collection</a:t>
              </a:r>
              <a:endParaRPr lang="en-US" sz="1400" b="1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48432" y="1394460"/>
              <a:ext cx="2487168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Reads RSRP, RSRQ, SINR via TelephonyManager every 10s</a:t>
              </a:r>
              <a:endParaRPr lang="en-US" sz="1050" b="1" dirty="0"/>
            </a:p>
          </p:txBody>
        </p:sp>
      </p:grpSp>
      <p:pic>
        <p:nvPicPr>
          <p:cNvPr id="41" name="Picture 4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80" y="949961"/>
            <a:ext cx="5943600" cy="3892930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5586984" y="647289"/>
            <a:ext cx="2487168" cy="1010920"/>
            <a:chOff x="2875280" y="1897380"/>
            <a:chExt cx="2487168" cy="960120"/>
          </a:xfrm>
        </p:grpSpPr>
        <p:sp>
          <p:nvSpPr>
            <p:cNvPr id="20" name="Shape 18"/>
            <p:cNvSpPr/>
            <p:nvPr/>
          </p:nvSpPr>
          <p:spPr>
            <a:xfrm>
              <a:off x="2875280" y="1897380"/>
              <a:ext cx="1916176" cy="96012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9050">
              <a:solidFill>
                <a:srgbClr val="02809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2948432" y="1952244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P5.0</a:t>
              </a:r>
              <a:endParaRPr lang="en-US" sz="1100" b="1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2948432" y="2171700"/>
              <a:ext cx="2414016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Backend Validation</a:t>
              </a:r>
              <a:endParaRPr lang="en-US" sz="1400" b="1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948432" y="2491740"/>
              <a:ext cx="2414016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Cameroon bounding box, GPS deduplication, auth</a:t>
              </a:r>
              <a:endParaRPr lang="en-US" sz="1050" b="1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838704" y="3919347"/>
            <a:ext cx="2487168" cy="960120"/>
            <a:chOff x="6446520" y="1874520"/>
            <a:chExt cx="2487168" cy="960120"/>
          </a:xfrm>
        </p:grpSpPr>
        <p:sp>
          <p:nvSpPr>
            <p:cNvPr id="24" name="Shape 22"/>
            <p:cNvSpPr/>
            <p:nvPr/>
          </p:nvSpPr>
          <p:spPr>
            <a:xfrm>
              <a:off x="6446520" y="1874520"/>
              <a:ext cx="2190496" cy="96012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9050">
              <a:solidFill>
                <a:srgbClr val="02809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6519672" y="1929384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P6.0</a:t>
              </a:r>
              <a:endParaRPr lang="en-US" sz="1100" b="1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519672" y="2148840"/>
              <a:ext cx="2414016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Coverage Map Generation</a:t>
              </a:r>
              <a:endParaRPr lang="en-US" sz="1400" b="1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519672" y="2468880"/>
              <a:ext cx="2414016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PostGIS spatial query → GeoJSON heatmap</a:t>
              </a:r>
              <a:endParaRPr lang="en-US" sz="105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3200" b="1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1945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219456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412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b="1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(Smartphone Owner)</a:t>
            </a:r>
            <a:endParaRPr lang="en-US" sz="1600" b="1" dirty="0"/>
          </a:p>
        </p:txBody>
      </p:sp>
      <p:sp>
        <p:nvSpPr>
          <p:cNvPr id="8" name="Text 6"/>
          <p:cNvSpPr/>
          <p:nvPr/>
        </p:nvSpPr>
        <p:spPr>
          <a:xfrm>
            <a:off x="274320" y="1701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contributor</a:t>
            </a:r>
            <a:endParaRPr lang="en-US" sz="1200" b="1" dirty="0"/>
          </a:p>
        </p:txBody>
      </p:sp>
      <p:sp>
        <p:nvSpPr>
          <p:cNvPr id="9" name="Text 7"/>
          <p:cNvSpPr/>
          <p:nvPr/>
        </p:nvSpPr>
        <p:spPr>
          <a:xfrm>
            <a:off x="274320" y="23042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Engineer</a:t>
            </a:r>
            <a:endParaRPr lang="en-US" sz="1600" b="1" dirty="0"/>
          </a:p>
        </p:txBody>
      </p:sp>
      <p:sp>
        <p:nvSpPr>
          <p:cNvPr id="10" name="Text 8"/>
          <p:cNvSpPr/>
          <p:nvPr/>
        </p:nvSpPr>
        <p:spPr>
          <a:xfrm>
            <a:off x="274320" y="2715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consumer (MTN/Orange)</a:t>
            </a:r>
            <a:endParaRPr lang="en-US" sz="1200" b="1" dirty="0"/>
          </a:p>
        </p:txBody>
      </p:sp>
      <p:sp>
        <p:nvSpPr>
          <p:cNvPr id="11" name="Text 9"/>
          <p:cNvSpPr/>
          <p:nvPr/>
        </p:nvSpPr>
        <p:spPr>
          <a:xfrm>
            <a:off x="274320" y="33101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System Services</a:t>
            </a:r>
            <a:endParaRPr lang="en-US" sz="1600" b="1" dirty="0"/>
          </a:p>
        </p:txBody>
      </p:sp>
      <p:sp>
        <p:nvSpPr>
          <p:cNvPr id="12" name="Text 10"/>
          <p:cNvSpPr/>
          <p:nvPr/>
        </p:nvSpPr>
        <p:spPr>
          <a:xfrm>
            <a:off x="274320" y="39410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Non-human: TelephonyManager, GPS</a:t>
            </a:r>
            <a:endParaRPr lang="en-US" sz="1200" b="1" dirty="0"/>
          </a:p>
        </p:txBody>
      </p:sp>
      <p:sp>
        <p:nvSpPr>
          <p:cNvPr id="13" name="Shape 11"/>
          <p:cNvSpPr/>
          <p:nvPr/>
        </p:nvSpPr>
        <p:spPr>
          <a:xfrm>
            <a:off x="2560320" y="777240"/>
            <a:ext cx="635508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 b="1"/>
          </a:p>
        </p:txBody>
      </p:sp>
      <p:sp>
        <p:nvSpPr>
          <p:cNvPr id="14" name="Shape 12"/>
          <p:cNvSpPr/>
          <p:nvPr/>
        </p:nvSpPr>
        <p:spPr>
          <a:xfrm>
            <a:off x="2560320" y="777240"/>
            <a:ext cx="63550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841248"/>
            <a:ext cx="6172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 Cases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2651760" y="1298448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37160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Stop Data Collection</a:t>
            </a:r>
            <a:endParaRPr lang="en-US" sz="1200" b="1" dirty="0"/>
          </a:p>
        </p:txBody>
      </p:sp>
      <p:sp>
        <p:nvSpPr>
          <p:cNvPr id="18" name="Shape 16"/>
          <p:cNvSpPr/>
          <p:nvPr/>
        </p:nvSpPr>
        <p:spPr>
          <a:xfrm>
            <a:off x="2651760" y="210312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217627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Live Signal Dashboard</a:t>
            </a:r>
            <a:endParaRPr lang="en-US" sz="1200" b="1" dirty="0"/>
          </a:p>
        </p:txBody>
      </p:sp>
      <p:sp>
        <p:nvSpPr>
          <p:cNvPr id="20" name="Shape 18"/>
          <p:cNvSpPr/>
          <p:nvPr/>
        </p:nvSpPr>
        <p:spPr>
          <a:xfrm>
            <a:off x="2651760" y="2907792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298094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Coverage Heatmap</a:t>
            </a:r>
            <a:endParaRPr lang="en-US" sz="1200" b="1" dirty="0"/>
          </a:p>
        </p:txBody>
      </p:sp>
      <p:sp>
        <p:nvSpPr>
          <p:cNvPr id="22" name="Shape 20"/>
          <p:cNvSpPr/>
          <p:nvPr/>
        </p:nvSpPr>
        <p:spPr>
          <a:xfrm>
            <a:off x="2651760" y="3712464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378561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Settings</a:t>
            </a:r>
            <a:endParaRPr lang="en-US" sz="1200" b="1" dirty="0"/>
          </a:p>
        </p:txBody>
      </p:sp>
      <p:sp>
        <p:nvSpPr>
          <p:cNvPr id="24" name="Shape 22"/>
          <p:cNvSpPr/>
          <p:nvPr/>
        </p:nvSpPr>
        <p:spPr>
          <a:xfrm>
            <a:off x="5806440" y="1298448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137160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Data to Server  ⟨includes Sync on Retry⟩</a:t>
            </a:r>
            <a:endParaRPr lang="en-US" sz="1200" b="1" dirty="0"/>
          </a:p>
        </p:txBody>
      </p:sp>
      <p:sp>
        <p:nvSpPr>
          <p:cNvPr id="26" name="Shape 24"/>
          <p:cNvSpPr/>
          <p:nvPr/>
        </p:nvSpPr>
        <p:spPr>
          <a:xfrm>
            <a:off x="5806440" y="210312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217627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Coverage Data (GeoJSON / CSV)</a:t>
            </a:r>
            <a:endParaRPr lang="en-US" sz="1200" b="1" dirty="0"/>
          </a:p>
        </p:txBody>
      </p:sp>
      <p:sp>
        <p:nvSpPr>
          <p:cNvPr id="28" name="Shape 26"/>
          <p:cNvSpPr/>
          <p:nvPr/>
        </p:nvSpPr>
        <p:spPr>
          <a:xfrm>
            <a:off x="5806440" y="2907792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298094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Permissions (onboarding)</a:t>
            </a:r>
            <a:endParaRPr lang="en-US" sz="1200" b="1" dirty="0"/>
          </a:p>
        </p:txBody>
      </p:sp>
      <p:sp>
        <p:nvSpPr>
          <p:cNvPr id="30" name="Shape 28"/>
          <p:cNvSpPr/>
          <p:nvPr/>
        </p:nvSpPr>
        <p:spPr>
          <a:xfrm>
            <a:off x="5806440" y="3712464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378561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Signal Reading  ⟨includes Provide GPS Fix, Anonymise &amp; Store⟩</a:t>
            </a:r>
            <a:endParaRPr lang="en-US" sz="12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2200" dirty="0">
              <a:latin typeface="Algerian" panose="04020705040A02060702" pitchFamily="82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40" y="777240"/>
            <a:ext cx="7741920" cy="436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949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Sequence Diagram </a:t>
            </a:r>
            <a:r>
              <a:rPr lang="en-US" sz="2800" dirty="0" smtClean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.. </a:t>
            </a:r>
            <a:r>
              <a:rPr lang="en-US" sz="2800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Core Data Collection</a:t>
            </a:r>
            <a:endParaRPr lang="en-US" sz="28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8778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164592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686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Launch &amp; Consent</a:t>
            </a:r>
            <a:endParaRPr lang="en-US" b="1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app → consent screen → grants permissions → UUID generated → sensor loop activated</a:t>
            </a:r>
            <a:endParaRPr lang="en-US" sz="1200" b="1" dirty="0"/>
          </a:p>
        </p:txBody>
      </p:sp>
      <p:sp>
        <p:nvSpPr>
          <p:cNvPr id="9" name="Shape 7"/>
          <p:cNvSpPr/>
          <p:nvPr/>
        </p:nvSpPr>
        <p:spPr>
          <a:xfrm>
            <a:off x="182880" y="1847088"/>
            <a:ext cx="8778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847088"/>
            <a:ext cx="164592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8928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b="1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Loop</a:t>
            </a:r>
            <a:endParaRPr lang="en-US" b="1" dirty="0"/>
          </a:p>
        </p:txBody>
      </p:sp>
      <p:sp>
        <p:nvSpPr>
          <p:cNvPr id="13" name="Text 11"/>
          <p:cNvSpPr/>
          <p:nvPr/>
        </p:nvSpPr>
        <p:spPr>
          <a:xfrm>
            <a:off x="411480" y="2377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10s (while moving): read RSRP/RSRQ/SINR → GPS fix → accuracy check (≥15m discarded) → anonymise → write to Room DB → update UI</a:t>
            </a:r>
            <a:endParaRPr lang="en-US" sz="1200" b="1" dirty="0"/>
          </a:p>
        </p:txBody>
      </p:sp>
      <p:sp>
        <p:nvSpPr>
          <p:cNvPr id="14" name="Shape 12"/>
          <p:cNvSpPr/>
          <p:nvPr/>
        </p:nvSpPr>
        <p:spPr>
          <a:xfrm>
            <a:off x="182880" y="2871216"/>
            <a:ext cx="8778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871216"/>
            <a:ext cx="164592" cy="91440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9169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b="1" dirty="0"/>
          </a:p>
        </p:txBody>
      </p:sp>
      <p:sp>
        <p:nvSpPr>
          <p:cNvPr id="17" name="Text 15"/>
          <p:cNvSpPr/>
          <p:nvPr/>
        </p:nvSpPr>
        <p:spPr>
          <a:xfrm>
            <a:off x="411480" y="314553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(alt fragment)</a:t>
            </a:r>
            <a:endParaRPr lang="en-US" b="1" dirty="0"/>
          </a:p>
        </p:txBody>
      </p:sp>
      <p:sp>
        <p:nvSpPr>
          <p:cNvPr id="18" name="Text 16"/>
          <p:cNvSpPr/>
          <p:nvPr/>
        </p:nvSpPr>
        <p:spPr>
          <a:xfrm>
            <a:off x="411480" y="340156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available: batch upload via HTTPS/TLS 1.2 → backend validates → stores in PostGIS → marks as synced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WiFi: queue locally, retry in 30 min</a:t>
            </a:r>
            <a:endParaRPr lang="en-US" sz="1200" b="1" dirty="0"/>
          </a:p>
        </p:txBody>
      </p:sp>
      <p:sp>
        <p:nvSpPr>
          <p:cNvPr id="19" name="Shape 17"/>
          <p:cNvSpPr/>
          <p:nvPr/>
        </p:nvSpPr>
        <p:spPr>
          <a:xfrm>
            <a:off x="182880" y="3895344"/>
            <a:ext cx="8778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3895344"/>
            <a:ext cx="164592" cy="914400"/>
          </a:xfrm>
          <a:prstGeom prst="rect">
            <a:avLst/>
          </a:prstGeom>
          <a:solidFill>
            <a:srgbClr val="FC8181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9410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b="1" dirty="0"/>
          </a:p>
        </p:txBody>
      </p:sp>
      <p:sp>
        <p:nvSpPr>
          <p:cNvPr id="22" name="Text 20"/>
          <p:cNvSpPr/>
          <p:nvPr/>
        </p:nvSpPr>
        <p:spPr>
          <a:xfrm>
            <a:off x="411480" y="416966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Map Serving</a:t>
            </a:r>
            <a:endParaRPr lang="en-US" b="1" dirty="0"/>
          </a:p>
        </p:txBody>
      </p:sp>
      <p:sp>
        <p:nvSpPr>
          <p:cNvPr id="23" name="Text 21"/>
          <p:cNvSpPr/>
          <p:nvPr/>
        </p:nvSpPr>
        <p:spPr>
          <a:xfrm>
            <a:off x="411480" y="442569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screen opened → query backend → PostGIS spatial query → GeoJSON heatmap returned → displayed in app</a:t>
            </a:r>
            <a:endParaRPr lang="en-US" sz="1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Sequence </a:t>
            </a:r>
            <a:r>
              <a:rPr lang="en-US" sz="3200" dirty="0" smtClean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3200" dirty="0">
              <a:latin typeface="Algerian" panose="04020705040A02060702" pitchFamily="82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1" y="1055077"/>
            <a:ext cx="8412480" cy="356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41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Class Diagram </a:t>
            </a:r>
            <a:r>
              <a:rPr lang="en-US" sz="3200" dirty="0" smtClean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MVVM Architecture</a:t>
            </a:r>
            <a:endParaRPr lang="en-US" sz="32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109728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595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b="1" dirty="0"/>
          </a:p>
        </p:txBody>
      </p:sp>
      <p:sp>
        <p:nvSpPr>
          <p:cNvPr id="7" name="Text 5"/>
          <p:cNvSpPr/>
          <p:nvPr/>
        </p:nvSpPr>
        <p:spPr>
          <a:xfrm>
            <a:off x="365760" y="113385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HomeScreen, MapScreen, HistoryScreen, SettingsScreen, OnboardingScreen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800600" y="804672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804672"/>
            <a:ext cx="109728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8595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b="1" dirty="0"/>
          </a:p>
        </p:txBody>
      </p:sp>
      <p:sp>
        <p:nvSpPr>
          <p:cNvPr id="11" name="Text 9"/>
          <p:cNvSpPr/>
          <p:nvPr/>
        </p:nvSpPr>
        <p:spPr>
          <a:xfrm>
            <a:off x="4983480" y="113385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HomeViewModel, MapViewModel, HistoryViewModel, SettingsViewModel</a:t>
            </a:r>
            <a:endParaRPr lang="en-US" sz="1200" b="1" dirty="0"/>
          </a:p>
        </p:txBody>
      </p:sp>
      <p:sp>
        <p:nvSpPr>
          <p:cNvPr id="12" name="Shape 10"/>
          <p:cNvSpPr/>
          <p:nvPr/>
        </p:nvSpPr>
        <p:spPr>
          <a:xfrm>
            <a:off x="182880" y="155448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1554480"/>
            <a:ext cx="109728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60934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/ Service</a:t>
            </a:r>
            <a:endParaRPr lang="en-US" b="1" dirty="0"/>
          </a:p>
        </p:txBody>
      </p:sp>
      <p:sp>
        <p:nvSpPr>
          <p:cNvPr id="15" name="Text 13"/>
          <p:cNvSpPr/>
          <p:nvPr/>
        </p:nvSpPr>
        <p:spPr>
          <a:xfrm>
            <a:off x="365760" y="188366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SignalCollector, SyncManager, LocationManager, PermissionManager + 2 interfaces</a:t>
            </a:r>
            <a:endParaRPr lang="en-US" sz="1200" b="1" dirty="0"/>
          </a:p>
        </p:txBody>
      </p:sp>
      <p:grpSp>
        <p:nvGrpSpPr>
          <p:cNvPr id="35" name="Group 34"/>
          <p:cNvGrpSpPr/>
          <p:nvPr/>
        </p:nvGrpSpPr>
        <p:grpSpPr>
          <a:xfrm>
            <a:off x="182880" y="4525264"/>
            <a:ext cx="4160520" cy="658368"/>
            <a:chOff x="4800600" y="1554480"/>
            <a:chExt cx="4160520" cy="658368"/>
          </a:xfrm>
        </p:grpSpPr>
        <p:sp>
          <p:nvSpPr>
            <p:cNvPr id="16" name="Shape 14"/>
            <p:cNvSpPr/>
            <p:nvPr/>
          </p:nvSpPr>
          <p:spPr>
            <a:xfrm>
              <a:off x="4800600" y="1554480"/>
              <a:ext cx="4160520" cy="658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4800600" y="1554480"/>
              <a:ext cx="109728" cy="658368"/>
            </a:xfrm>
            <a:prstGeom prst="rect">
              <a:avLst/>
            </a:prstGeom>
            <a:solidFill>
              <a:srgbClr val="02C39A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983480" y="1609344"/>
              <a:ext cx="3886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Repository</a:t>
              </a:r>
              <a:endParaRPr lang="en-US" b="1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983480" y="1883664"/>
              <a:ext cx="3886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SignalRepository, SessionRepository, PredictionRepository</a:t>
              </a:r>
              <a:endParaRPr lang="en-US" sz="1200" b="1" dirty="0"/>
            </a:p>
          </p:txBody>
        </p:sp>
      </p:grpSp>
      <p:sp>
        <p:nvSpPr>
          <p:cNvPr id="20" name="Shape 18"/>
          <p:cNvSpPr/>
          <p:nvPr/>
        </p:nvSpPr>
        <p:spPr>
          <a:xfrm>
            <a:off x="182880" y="230428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304288"/>
            <a:ext cx="109728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3591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b="1" dirty="0"/>
          </a:p>
        </p:txBody>
      </p:sp>
      <p:sp>
        <p:nvSpPr>
          <p:cNvPr id="23" name="Text 21"/>
          <p:cNvSpPr/>
          <p:nvPr/>
        </p:nvSpPr>
        <p:spPr>
          <a:xfrm>
            <a:off x="365760" y="26334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SignalReading, Session, User, MLPrediction, LocalDatabase</a:t>
            </a:r>
            <a:endParaRPr lang="en-US" sz="1200" b="1" dirty="0"/>
          </a:p>
        </p:txBody>
      </p:sp>
      <p:grpSp>
        <p:nvGrpSpPr>
          <p:cNvPr id="34" name="Group 33"/>
          <p:cNvGrpSpPr/>
          <p:nvPr/>
        </p:nvGrpSpPr>
        <p:grpSpPr>
          <a:xfrm>
            <a:off x="182880" y="3803904"/>
            <a:ext cx="4160520" cy="658368"/>
            <a:chOff x="4800600" y="2304288"/>
            <a:chExt cx="4160520" cy="658368"/>
          </a:xfrm>
        </p:grpSpPr>
        <p:sp>
          <p:nvSpPr>
            <p:cNvPr id="24" name="Shape 22"/>
            <p:cNvSpPr/>
            <p:nvPr/>
          </p:nvSpPr>
          <p:spPr>
            <a:xfrm>
              <a:off x="4800600" y="2304288"/>
              <a:ext cx="4160520" cy="658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sz="2800" b="1"/>
            </a:p>
          </p:txBody>
        </p:sp>
        <p:sp>
          <p:nvSpPr>
            <p:cNvPr id="25" name="Shape 23"/>
            <p:cNvSpPr/>
            <p:nvPr/>
          </p:nvSpPr>
          <p:spPr>
            <a:xfrm>
              <a:off x="4800600" y="2304288"/>
              <a:ext cx="109728" cy="658368"/>
            </a:xfrm>
            <a:prstGeom prst="rect">
              <a:avLst/>
            </a:prstGeom>
            <a:solidFill>
              <a:srgbClr val="EF4444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4983480" y="2359152"/>
              <a:ext cx="3886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Network</a:t>
              </a:r>
              <a:endParaRPr lang="en-US" b="1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983480" y="2633472"/>
              <a:ext cx="3886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BackendAPI, APIResponse, APIError</a:t>
              </a:r>
              <a:endParaRPr lang="en-US" sz="1200" b="1" dirty="0"/>
            </a:p>
          </p:txBody>
        </p:sp>
      </p:grpSp>
      <p:sp>
        <p:nvSpPr>
          <p:cNvPr id="28" name="Shape 26"/>
          <p:cNvSpPr/>
          <p:nvPr/>
        </p:nvSpPr>
        <p:spPr>
          <a:xfrm>
            <a:off x="182880" y="3054096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054096"/>
            <a:ext cx="109728" cy="65836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1089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Enumerations</a:t>
            </a:r>
            <a:endParaRPr lang="en-US" b="1" dirty="0"/>
          </a:p>
        </p:txBody>
      </p:sp>
      <p:sp>
        <p:nvSpPr>
          <p:cNvPr id="31" name="Text 29"/>
          <p:cNvSpPr/>
          <p:nvPr/>
        </p:nvSpPr>
        <p:spPr>
          <a:xfrm>
            <a:off x="365760" y="33832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CoverageClass, NetworkType, CollectionMode</a:t>
            </a:r>
            <a:endParaRPr lang="en-US" sz="1200" b="1" dirty="0"/>
          </a:p>
        </p:txBody>
      </p:sp>
      <p:pic>
        <p:nvPicPr>
          <p:cNvPr id="36" name="Picture 35" descr="C:\Users\josed\Downloads\New folder\Blank diagram.pn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47" b="20887"/>
          <a:stretch/>
        </p:blipFill>
        <p:spPr bwMode="auto">
          <a:xfrm>
            <a:off x="2620645" y="1462230"/>
            <a:ext cx="6523355" cy="70129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Key Classes &amp; Relationships</a:t>
            </a:r>
            <a:endParaRPr lang="en-US" sz="32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28346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283464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412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SignalReading</a:t>
            </a:r>
            <a:endParaRPr lang="en-US" b="1" dirty="0"/>
          </a:p>
        </p:txBody>
      </p:sp>
      <p:sp>
        <p:nvSpPr>
          <p:cNvPr id="7" name="Shape 5"/>
          <p:cNvSpPr/>
          <p:nvPr/>
        </p:nvSpPr>
        <p:spPr>
          <a:xfrm>
            <a:off x="274320" y="1152144"/>
            <a:ext cx="265176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16152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deviceUUID, rsrp, rsrq, sinr, rssi,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cellId, lat, lon, timestamp, isSynced</a:t>
            </a:r>
            <a:endParaRPr lang="en-US" sz="1100" b="1" dirty="0"/>
          </a:p>
        </p:txBody>
      </p:sp>
      <p:sp>
        <p:nvSpPr>
          <p:cNvPr id="9" name="Shape 7"/>
          <p:cNvSpPr/>
          <p:nvPr/>
        </p:nvSpPr>
        <p:spPr>
          <a:xfrm>
            <a:off x="3172968" y="804672"/>
            <a:ext cx="28346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804672"/>
            <a:ext cx="283464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8412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b="1" dirty="0"/>
          </a:p>
        </p:txBody>
      </p:sp>
      <p:sp>
        <p:nvSpPr>
          <p:cNvPr id="12" name="Shape 10"/>
          <p:cNvSpPr/>
          <p:nvPr/>
        </p:nvSpPr>
        <p:spPr>
          <a:xfrm>
            <a:off x="3264408" y="1152144"/>
            <a:ext cx="265176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216152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sessionId, deviceUUID, startTime,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endTime, totalReadings, uploadStatus</a:t>
            </a:r>
            <a:endParaRPr lang="en-US" sz="1100" b="1" dirty="0"/>
          </a:p>
        </p:txBody>
      </p:sp>
      <p:sp>
        <p:nvSpPr>
          <p:cNvPr id="14" name="Shape 12"/>
          <p:cNvSpPr/>
          <p:nvPr/>
        </p:nvSpPr>
        <p:spPr>
          <a:xfrm>
            <a:off x="6163056" y="804672"/>
            <a:ext cx="28346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804672"/>
            <a:ext cx="283464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8412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SignalCollector</a:t>
            </a:r>
            <a:endParaRPr lang="en-US" b="1" dirty="0"/>
          </a:p>
        </p:txBody>
      </p:sp>
      <p:sp>
        <p:nvSpPr>
          <p:cNvPr id="17" name="Shape 15"/>
          <p:cNvSpPr/>
          <p:nvPr/>
        </p:nvSpPr>
        <p:spPr>
          <a:xfrm>
            <a:off x="6254496" y="1152144"/>
            <a:ext cx="265176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216152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 DataCollector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startCollection(), stopCollection(),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pauseCollection(), resumeCollection()</a:t>
            </a:r>
            <a:endParaRPr lang="en-US" sz="1100" b="1" dirty="0"/>
          </a:p>
        </p:txBody>
      </p:sp>
      <p:sp>
        <p:nvSpPr>
          <p:cNvPr id="19" name="Shape 17"/>
          <p:cNvSpPr/>
          <p:nvPr/>
        </p:nvSpPr>
        <p:spPr>
          <a:xfrm>
            <a:off x="182880" y="2724912"/>
            <a:ext cx="28346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724912"/>
            <a:ext cx="283464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7614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SyncManager</a:t>
            </a:r>
            <a:endParaRPr lang="en-US" b="1" dirty="0"/>
          </a:p>
        </p:txBody>
      </p:sp>
      <p:sp>
        <p:nvSpPr>
          <p:cNvPr id="22" name="Shape 20"/>
          <p:cNvSpPr/>
          <p:nvPr/>
        </p:nvSpPr>
        <p:spPr>
          <a:xfrm>
            <a:off x="274320" y="3072384"/>
            <a:ext cx="265176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136392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 DataUploader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uploadData(), checkConnectivity(),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scheduleRetry()</a:t>
            </a:r>
            <a:endParaRPr lang="en-US" sz="1100" b="1" dirty="0"/>
          </a:p>
        </p:txBody>
      </p:sp>
      <p:sp>
        <p:nvSpPr>
          <p:cNvPr id="24" name="Shape 22"/>
          <p:cNvSpPr/>
          <p:nvPr/>
        </p:nvSpPr>
        <p:spPr>
          <a:xfrm>
            <a:off x="3172968" y="2724912"/>
            <a:ext cx="28346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724912"/>
            <a:ext cx="283464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6" name="Text 24"/>
          <p:cNvSpPr/>
          <p:nvPr/>
        </p:nvSpPr>
        <p:spPr>
          <a:xfrm>
            <a:off x="3264408" y="27614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BackendAPI</a:t>
            </a:r>
            <a:endParaRPr lang="en-US" b="1" dirty="0"/>
          </a:p>
        </p:txBody>
      </p:sp>
      <p:sp>
        <p:nvSpPr>
          <p:cNvPr id="27" name="Shape 25"/>
          <p:cNvSpPr/>
          <p:nvPr/>
        </p:nvSpPr>
        <p:spPr>
          <a:xfrm>
            <a:off x="3264408" y="3072384"/>
            <a:ext cx="265176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3136392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uploadReadings(), fetchPredictions()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Handles auth tokens &amp; error responses</a:t>
            </a:r>
            <a:endParaRPr lang="en-US" sz="1100" b="1" dirty="0"/>
          </a:p>
        </p:txBody>
      </p:sp>
      <p:sp>
        <p:nvSpPr>
          <p:cNvPr id="29" name="Shape 27"/>
          <p:cNvSpPr/>
          <p:nvPr/>
        </p:nvSpPr>
        <p:spPr>
          <a:xfrm>
            <a:off x="6163056" y="2724912"/>
            <a:ext cx="28346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63056" y="2724912"/>
            <a:ext cx="283464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9"/>
          <p:cNvSpPr/>
          <p:nvPr/>
        </p:nvSpPr>
        <p:spPr>
          <a:xfrm>
            <a:off x="6254496" y="27614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LocalDatabase</a:t>
            </a:r>
            <a:endParaRPr lang="en-US" b="1" dirty="0"/>
          </a:p>
        </p:txBody>
      </p:sp>
      <p:sp>
        <p:nvSpPr>
          <p:cNvPr id="32" name="Shape 30"/>
          <p:cNvSpPr/>
          <p:nvPr/>
        </p:nvSpPr>
        <p:spPr>
          <a:xfrm>
            <a:off x="6254496" y="3072384"/>
            <a:ext cx="265176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3136392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dbInstance, storageUsedMB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maxStorageMB = 50MB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Room/SQLite auto-prune</a:t>
            </a:r>
            <a:endParaRPr lang="en-US" sz="11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Deployment Diagram </a:t>
            </a:r>
            <a:r>
              <a:rPr lang="en-US" sz="2400" dirty="0" smtClean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24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" y="777240"/>
            <a:ext cx="2926080" cy="2112264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" y="777240"/>
            <a:ext cx="29260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850392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– Client</a:t>
            </a:r>
            <a:endParaRPr lang="en-US" sz="1100" b="1" dirty="0"/>
          </a:p>
        </p:txBody>
      </p:sp>
      <p:sp>
        <p:nvSpPr>
          <p:cNvPr id="7" name="Text 5"/>
          <p:cNvSpPr/>
          <p:nvPr/>
        </p:nvSpPr>
        <p:spPr>
          <a:xfrm>
            <a:off x="164592" y="1033272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Device</a:t>
            </a:r>
            <a:endParaRPr lang="en-US" b="1" dirty="0"/>
          </a:p>
        </p:txBody>
      </p:sp>
      <p:sp>
        <p:nvSpPr>
          <p:cNvPr id="8" name="Text 6"/>
          <p:cNvSpPr/>
          <p:nvPr/>
        </p:nvSpPr>
        <p:spPr>
          <a:xfrm>
            <a:off x="201168" y="134416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Kotlin UI (Home, Map, History, Settings)</a:t>
            </a:r>
            <a:endParaRPr lang="en-US" sz="1100" b="1" dirty="0"/>
          </a:p>
        </p:txBody>
      </p:sp>
      <p:sp>
        <p:nvSpPr>
          <p:cNvPr id="9" name="Text 7"/>
          <p:cNvSpPr/>
          <p:nvPr/>
        </p:nvSpPr>
        <p:spPr>
          <a:xfrm>
            <a:off x="201168" y="1691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WorkManager – background sync</a:t>
            </a:r>
            <a:endParaRPr lang="en-US" sz="1100" b="1" dirty="0"/>
          </a:p>
        </p:txBody>
      </p:sp>
      <p:sp>
        <p:nvSpPr>
          <p:cNvPr id="10" name="Text 8"/>
          <p:cNvSpPr/>
          <p:nvPr/>
        </p:nvSpPr>
        <p:spPr>
          <a:xfrm>
            <a:off x="201168" y="203911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Adaptive Sampling Controller</a:t>
            </a:r>
            <a:endParaRPr lang="en-US" sz="1100" b="1" dirty="0"/>
          </a:p>
        </p:txBody>
      </p:sp>
      <p:sp>
        <p:nvSpPr>
          <p:cNvPr id="11" name="Text 9"/>
          <p:cNvSpPr/>
          <p:nvPr/>
        </p:nvSpPr>
        <p:spPr>
          <a:xfrm>
            <a:off x="201168" y="238658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Room DB (SQLite, 50MB cap)</a:t>
            </a:r>
            <a:endParaRPr lang="en-US" sz="1100" b="1" dirty="0"/>
          </a:p>
        </p:txBody>
      </p:sp>
      <p:grpSp>
        <p:nvGrpSpPr>
          <p:cNvPr id="42" name="Group 41"/>
          <p:cNvGrpSpPr/>
          <p:nvPr/>
        </p:nvGrpSpPr>
        <p:grpSpPr>
          <a:xfrm>
            <a:off x="90424" y="3273552"/>
            <a:ext cx="2926080" cy="1645920"/>
            <a:chOff x="91440" y="2651760"/>
            <a:chExt cx="2926080" cy="1645920"/>
          </a:xfrm>
        </p:grpSpPr>
        <p:sp>
          <p:nvSpPr>
            <p:cNvPr id="12" name="Text 10"/>
            <p:cNvSpPr/>
            <p:nvPr/>
          </p:nvSpPr>
          <p:spPr>
            <a:xfrm>
              <a:off x="201168" y="2734056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uuid.prefs + settings.prefs</a:t>
              </a:r>
              <a:endParaRPr lang="en-US" sz="1100" b="1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91440" y="2651760"/>
              <a:ext cx="2926080" cy="164592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8B5CF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91440" y="2651760"/>
              <a:ext cx="2926080" cy="45720"/>
            </a:xfrm>
            <a:prstGeom prst="rect">
              <a:avLst/>
            </a:prstGeom>
            <a:solidFill>
              <a:srgbClr val="8B5CF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164592" y="2724912"/>
              <a:ext cx="277977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8B5C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Tier 1 – OS APIs</a:t>
              </a:r>
              <a:endParaRPr lang="en-US" sz="1100" b="1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64592" y="2907792"/>
              <a:ext cx="2779776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Android System Services</a:t>
              </a:r>
              <a:endParaRPr lang="en-US" b="1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01168" y="3218688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TelephonyManager (RSRP, RSRQ, SINR)</a:t>
              </a:r>
              <a:endParaRPr lang="en-US" sz="1100" b="1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01168" y="3566160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4A55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FusedLocationProvider (GPS + accuracy)</a:t>
              </a:r>
              <a:endParaRPr lang="en-US" sz="1100" b="1" dirty="0"/>
            </a:p>
          </p:txBody>
        </p:sp>
      </p:grpSp>
      <p:sp>
        <p:nvSpPr>
          <p:cNvPr id="19" name="Shape 17"/>
          <p:cNvSpPr/>
          <p:nvPr/>
        </p:nvSpPr>
        <p:spPr>
          <a:xfrm>
            <a:off x="3154680" y="777240"/>
            <a:ext cx="292608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777240"/>
            <a:ext cx="29260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3227832" y="850392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– Backend</a:t>
            </a:r>
            <a:endParaRPr lang="en-US" sz="1100" b="1" dirty="0"/>
          </a:p>
        </p:txBody>
      </p:sp>
      <p:sp>
        <p:nvSpPr>
          <p:cNvPr id="22" name="Text 20"/>
          <p:cNvSpPr/>
          <p:nvPr/>
        </p:nvSpPr>
        <p:spPr>
          <a:xfrm>
            <a:off x="3227832" y="1033272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b="1" dirty="0"/>
          </a:p>
        </p:txBody>
      </p:sp>
      <p:sp>
        <p:nvSpPr>
          <p:cNvPr id="23" name="Text 21"/>
          <p:cNvSpPr/>
          <p:nvPr/>
        </p:nvSpPr>
        <p:spPr>
          <a:xfrm>
            <a:off x="3264408" y="134416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REST API (auth, routing, export)</a:t>
            </a:r>
            <a:endParaRPr lang="en-US" sz="1100" b="1" dirty="0"/>
          </a:p>
        </p:txBody>
      </p:sp>
      <p:sp>
        <p:nvSpPr>
          <p:cNvPr id="24" name="Text 22"/>
          <p:cNvSpPr/>
          <p:nvPr/>
        </p:nvSpPr>
        <p:spPr>
          <a:xfrm>
            <a:off x="3264408" y="1691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Validator (bounding box, dedup)</a:t>
            </a:r>
            <a:endParaRPr lang="en-US" sz="1100" b="1" dirty="0"/>
          </a:p>
        </p:txBody>
      </p:sp>
      <p:sp>
        <p:nvSpPr>
          <p:cNvPr id="25" name="Text 23"/>
          <p:cNvSpPr/>
          <p:nvPr/>
        </p:nvSpPr>
        <p:spPr>
          <a:xfrm>
            <a:off x="3264408" y="203911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PostGIS Spatial Query Engine</a:t>
            </a:r>
            <a:endParaRPr lang="en-US" sz="1100" b="1" dirty="0"/>
          </a:p>
        </p:txBody>
      </p:sp>
      <p:sp>
        <p:nvSpPr>
          <p:cNvPr id="26" name="Text 24"/>
          <p:cNvSpPr/>
          <p:nvPr/>
        </p:nvSpPr>
        <p:spPr>
          <a:xfrm>
            <a:off x="3264408" y="238658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+ PostGIS DB</a:t>
            </a:r>
            <a:endParaRPr lang="en-US" sz="1100" b="1" dirty="0"/>
          </a:p>
        </p:txBody>
      </p:sp>
      <p:sp>
        <p:nvSpPr>
          <p:cNvPr id="27" name="Shape 25"/>
          <p:cNvSpPr/>
          <p:nvPr/>
        </p:nvSpPr>
        <p:spPr>
          <a:xfrm>
            <a:off x="6217920" y="777240"/>
            <a:ext cx="27432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  <a:prstDash val="dash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777240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291072" y="850392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– Analytics (Future)</a:t>
            </a:r>
            <a:endParaRPr lang="en-US" sz="1100" b="1" dirty="0"/>
          </a:p>
        </p:txBody>
      </p:sp>
      <p:sp>
        <p:nvSpPr>
          <p:cNvPr id="30" name="Text 28"/>
          <p:cNvSpPr/>
          <p:nvPr/>
        </p:nvSpPr>
        <p:spPr>
          <a:xfrm>
            <a:off x="6291072" y="103327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Analytics Server</a:t>
            </a:r>
            <a:endParaRPr lang="en-US" b="1" dirty="0"/>
          </a:p>
        </p:txBody>
      </p:sp>
      <p:sp>
        <p:nvSpPr>
          <p:cNvPr id="31" name="Text 29"/>
          <p:cNvSpPr/>
          <p:nvPr/>
        </p:nvSpPr>
        <p:spPr>
          <a:xfrm>
            <a:off x="6327648" y="134416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Coverage Prediction Model</a:t>
            </a:r>
            <a:endParaRPr lang="en-US" sz="1100" b="1" dirty="0"/>
          </a:p>
        </p:txBody>
      </p:sp>
      <p:sp>
        <p:nvSpPr>
          <p:cNvPr id="32" name="Text 30"/>
          <p:cNvSpPr/>
          <p:nvPr/>
        </p:nvSpPr>
        <p:spPr>
          <a:xfrm>
            <a:off x="6327648" y="16916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Training Pipeline</a:t>
            </a:r>
            <a:endParaRPr lang="en-US" sz="1100" b="1" dirty="0"/>
          </a:p>
        </p:txBody>
      </p:sp>
      <p:sp>
        <p:nvSpPr>
          <p:cNvPr id="33" name="Text 31"/>
          <p:cNvSpPr/>
          <p:nvPr/>
        </p:nvSpPr>
        <p:spPr>
          <a:xfrm>
            <a:off x="6327648" y="20391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Heatmap Generator (→ GeoJSON)</a:t>
            </a:r>
            <a:endParaRPr lang="en-US" sz="1100" b="1" dirty="0"/>
          </a:p>
        </p:txBody>
      </p:sp>
      <p:sp>
        <p:nvSpPr>
          <p:cNvPr id="34" name="Shape 32"/>
          <p:cNvSpPr/>
          <p:nvPr/>
        </p:nvSpPr>
        <p:spPr>
          <a:xfrm>
            <a:off x="6217920" y="3017520"/>
            <a:ext cx="27432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3017520"/>
            <a:ext cx="27432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6291072" y="3090672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b="1" dirty="0"/>
          </a:p>
        </p:txBody>
      </p:sp>
      <p:sp>
        <p:nvSpPr>
          <p:cNvPr id="37" name="Text 35"/>
          <p:cNvSpPr/>
          <p:nvPr/>
        </p:nvSpPr>
        <p:spPr>
          <a:xfrm>
            <a:off x="6291072" y="327355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Tile Service</a:t>
            </a:r>
            <a:endParaRPr lang="en-US" b="1" dirty="0"/>
          </a:p>
        </p:txBody>
      </p:sp>
      <p:sp>
        <p:nvSpPr>
          <p:cNvPr id="38" name="Text 36"/>
          <p:cNvSpPr/>
          <p:nvPr/>
        </p:nvSpPr>
        <p:spPr>
          <a:xfrm>
            <a:off x="6327648" y="35844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map tiles (HTTPS)</a:t>
            </a:r>
            <a:endParaRPr lang="en-US" sz="1100" b="1" dirty="0"/>
          </a:p>
        </p:txBody>
      </p:sp>
      <p:sp>
        <p:nvSpPr>
          <p:cNvPr id="39" name="Shape 37"/>
          <p:cNvSpPr/>
          <p:nvPr/>
        </p:nvSpPr>
        <p:spPr>
          <a:xfrm>
            <a:off x="3017520" y="1645920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Deployment Diagram </a:t>
            </a:r>
            <a:r>
              <a:rPr lang="en-US" sz="2400" dirty="0" smtClean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2400" dirty="0">
              <a:latin typeface="Algerian" panose="04020705040A02060702" pitchFamily="82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59"/>
          <a:stretch/>
        </p:blipFill>
        <p:spPr>
          <a:xfrm>
            <a:off x="345497" y="777240"/>
            <a:ext cx="8453005" cy="407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47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Key Design Decisions &amp; Evidence</a:t>
            </a:r>
            <a:endParaRPr lang="en-US" sz="3200" dirty="0">
              <a:latin typeface="Algerian" panose="04020705040A020607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8778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109728" cy="7498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412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1: 10s interval (moving) + pause when stationary</a:t>
            </a:r>
            <a:endParaRPr lang="en-US" sz="1600" b="1" dirty="0"/>
          </a:p>
        </p:txBody>
      </p:sp>
      <p:sp>
        <p:nvSpPr>
          <p:cNvPr id="7" name="Text 5"/>
          <p:cNvSpPr/>
          <p:nvPr/>
        </p:nvSpPr>
        <p:spPr>
          <a:xfrm>
            <a:off x="365760" y="1152144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Balances real-time data vs. battery (&lt;5%/hr). Engineers: 5s minimum; 10s + adaptive pause meets both.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182880" y="1645920"/>
            <a:ext cx="8778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645920"/>
            <a:ext cx="109728" cy="7498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8249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2: GPS accuracy threshold: 15 metres</a:t>
            </a:r>
            <a:endParaRPr lang="en-US" sz="1600" b="1" dirty="0"/>
          </a:p>
        </p:txBody>
      </p:sp>
      <p:sp>
        <p:nvSpPr>
          <p:cNvPr id="11" name="Text 9"/>
          <p:cNvSpPr/>
          <p:nvPr/>
        </p:nvSpPr>
        <p:spPr>
          <a:xfrm>
            <a:off x="365760" y="19933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Set from network engineer interviews. Applied on-device before record is written to avoid corrupting coverage maps.</a:t>
            </a:r>
            <a:endParaRPr lang="en-US" sz="1200" b="1" dirty="0"/>
          </a:p>
        </p:txBody>
      </p:sp>
      <p:sp>
        <p:nvSpPr>
          <p:cNvPr id="12" name="Shape 10"/>
          <p:cNvSpPr/>
          <p:nvPr/>
        </p:nvSpPr>
        <p:spPr>
          <a:xfrm>
            <a:off x="182880" y="2487168"/>
            <a:ext cx="8778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 b="1"/>
          </a:p>
        </p:txBody>
      </p:sp>
      <p:sp>
        <p:nvSpPr>
          <p:cNvPr id="13" name="Shape 11"/>
          <p:cNvSpPr/>
          <p:nvPr/>
        </p:nvSpPr>
        <p:spPr>
          <a:xfrm>
            <a:off x="182880" y="2487168"/>
            <a:ext cx="109728" cy="7498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2374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3: WiFi-only upload by default</a:t>
            </a:r>
            <a:endParaRPr lang="en-US" sz="1600" b="1" dirty="0"/>
          </a:p>
        </p:txBody>
      </p:sp>
      <p:sp>
        <p:nvSpPr>
          <p:cNvPr id="15" name="Text 13"/>
          <p:cNvSpPr/>
          <p:nvPr/>
        </p:nvSpPr>
        <p:spPr>
          <a:xfrm>
            <a:off x="365760" y="28346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56% of survey users required data-saving conditions. Alt fragment makes both paths explicitly testable.</a:t>
            </a:r>
            <a:endParaRPr lang="en-US" sz="1200" b="1" dirty="0"/>
          </a:p>
        </p:txBody>
      </p:sp>
      <p:sp>
        <p:nvSpPr>
          <p:cNvPr id="16" name="Shape 14"/>
          <p:cNvSpPr/>
          <p:nvPr/>
        </p:nvSpPr>
        <p:spPr>
          <a:xfrm>
            <a:off x="182880" y="3328416"/>
            <a:ext cx="8778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3328416"/>
            <a:ext cx="109728" cy="7498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6499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4: On-device anonymisation before any data leaves</a:t>
            </a:r>
            <a:endParaRPr lang="en-US" sz="1600" b="1" dirty="0"/>
          </a:p>
        </p:txBody>
      </p:sp>
      <p:sp>
        <p:nvSpPr>
          <p:cNvPr id="19" name="Text 17"/>
          <p:cNvSpPr/>
          <p:nvPr/>
        </p:nvSpPr>
        <p:spPr>
          <a:xfrm>
            <a:off x="365760" y="367588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Non-negotiable for 56/100 survey respondents. Backend never receives PII — not even in transit.</a:t>
            </a:r>
            <a:endParaRPr lang="en-US" sz="1200" b="1" dirty="0"/>
          </a:p>
        </p:txBody>
      </p:sp>
      <p:sp>
        <p:nvSpPr>
          <p:cNvPr id="20" name="Shape 18"/>
          <p:cNvSpPr/>
          <p:nvPr/>
        </p:nvSpPr>
        <p:spPr>
          <a:xfrm>
            <a:off x="182880" y="4169664"/>
            <a:ext cx="8778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4169664"/>
            <a:ext cx="109728" cy="7498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206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5: UUID generated on first launch, encrypted SharedPreferences</a:t>
            </a:r>
            <a:endParaRPr lang="en-US" sz="1600" b="1" dirty="0"/>
          </a:p>
        </p:txBody>
      </p:sp>
      <p:sp>
        <p:nvSpPr>
          <p:cNvPr id="23" name="Text 21"/>
          <p:cNvSpPr/>
          <p:nvPr/>
        </p:nvSpPr>
        <p:spPr>
          <a:xfrm>
            <a:off x="365760" y="451713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Resolves conflict: full anonymity + device-consistent readings for ML model (Task 3, §2.1.3).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-10160"/>
            <a:ext cx="8979408" cy="1645920"/>
          </a:xfrm>
          <a:prstGeom prst="rect">
            <a:avLst/>
          </a:prstGeom>
          <a:solidFill>
            <a:srgbClr val="0A1428"/>
          </a:solidFill>
          <a:ln/>
        </p:spPr>
        <p:txBody>
          <a:bodyPr/>
          <a:lstStyle/>
          <a:p>
            <a:endParaRPr lang="en-US" sz="3200" b="1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800" dirty="0">
              <a:latin typeface="Algerian" panose="04020705040A02060702" pitchFamily="8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CrowdSenseNet</a:t>
            </a:r>
            <a:r>
              <a:rPr lang="en-US" sz="2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…. </a:t>
            </a:r>
            <a:r>
              <a:rPr lang="en-US" sz="2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Architectural Blueprint</a:t>
            </a:r>
            <a:endParaRPr lang="en-US" sz="2400" b="1" dirty="0"/>
          </a:p>
        </p:txBody>
      </p:sp>
      <p:sp>
        <p:nvSpPr>
          <p:cNvPr id="6" name="Text 4"/>
          <p:cNvSpPr/>
          <p:nvPr/>
        </p:nvSpPr>
        <p:spPr>
          <a:xfrm>
            <a:off x="411480" y="181051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Context Diagram — system boundary confirmed, 4 stakeholder groups accounted for</a:t>
            </a:r>
            <a:endParaRPr lang="en-US" b="1" dirty="0"/>
          </a:p>
        </p:txBody>
      </p:sp>
      <p:sp>
        <p:nvSpPr>
          <p:cNvPr id="7" name="Text 5"/>
          <p:cNvSpPr/>
          <p:nvPr/>
        </p:nvSpPr>
        <p:spPr>
          <a:xfrm>
            <a:off x="411480" y="230428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DFD Level 1 — 7 internal processes from consent to ML prediction</a:t>
            </a:r>
            <a:endParaRPr lang="en-US" b="1" dirty="0"/>
          </a:p>
        </p:txBody>
      </p:sp>
      <p:sp>
        <p:nvSpPr>
          <p:cNvPr id="8" name="Text 6"/>
          <p:cNvSpPr/>
          <p:nvPr/>
        </p:nvSpPr>
        <p:spPr>
          <a:xfrm>
            <a:off x="411480" y="2798064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Case Diagram — 12 functional interactions, include + extend relationships</a:t>
            </a:r>
            <a:endParaRPr lang="en-US" b="1" dirty="0"/>
          </a:p>
        </p:txBody>
      </p:sp>
      <p:sp>
        <p:nvSpPr>
          <p:cNvPr id="9" name="Text 7"/>
          <p:cNvSpPr/>
          <p:nvPr/>
        </p:nvSpPr>
        <p:spPr>
          <a:xfrm>
            <a:off x="411480" y="32918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Sequence Diagram — 4-phase runtime model with combined fragments</a:t>
            </a:r>
            <a:endParaRPr lang="en-US" b="1" dirty="0"/>
          </a:p>
        </p:txBody>
      </p:sp>
      <p:sp>
        <p:nvSpPr>
          <p:cNvPr id="10" name="Text 8"/>
          <p:cNvSpPr/>
          <p:nvPr/>
        </p:nvSpPr>
        <p:spPr>
          <a:xfrm>
            <a:off x="411480" y="3785616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Class Diagram — 29 classes, 2 interfaces, 3 enums, 32 relationships (MVVM)</a:t>
            </a:r>
            <a:endParaRPr lang="en-US" b="1" dirty="0"/>
          </a:p>
        </p:txBody>
      </p:sp>
      <p:sp>
        <p:nvSpPr>
          <p:cNvPr id="11" name="Text 9"/>
          <p:cNvSpPr/>
          <p:nvPr/>
        </p:nvSpPr>
        <p:spPr>
          <a:xfrm>
            <a:off x="411480" y="42793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Deployment Diagram — 5 nodes across 3-tier architecture</a:t>
            </a:r>
            <a:endParaRPr lang="en-US" b="1" dirty="0"/>
          </a:p>
        </p:txBody>
      </p:sp>
      <p:sp>
        <p:nvSpPr>
          <p:cNvPr id="12" name="Shape 10"/>
          <p:cNvSpPr/>
          <p:nvPr/>
        </p:nvSpPr>
        <p:spPr>
          <a:xfrm>
            <a:off x="411480" y="4709160"/>
            <a:ext cx="832104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8006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traceable to Task 3 SRS requirements and Task 2 stakeholder evidence.</a:t>
            </a:r>
            <a:endParaRPr lang="en-US" sz="1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1077</Words>
  <Application>Microsoft Office PowerPoint</Application>
  <PresentationFormat>On-screen Show (16:9)</PresentationFormat>
  <Paragraphs>213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Algerian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CrowdSenseNet – System Modelling &amp; Design</dc:title>
  <dc:subject>PptxGenJS Presentation</dc:subject>
  <dc:creator>Group 13, CEF 440</dc:creator>
  <cp:lastModifiedBy>IMELE AZAFA JOSE</cp:lastModifiedBy>
  <cp:revision>7</cp:revision>
  <dcterms:created xsi:type="dcterms:W3CDTF">2026-05-25T20:03:56Z</dcterms:created>
  <dcterms:modified xsi:type="dcterms:W3CDTF">2026-05-26T00:19:18Z</dcterms:modified>
</cp:coreProperties>
</file>