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565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the CrowdSenseNet screen-recording / demo video in place of this placeholder before presenting. Walk through: opening the app, granting permissions, starting a sensing session, viewing live signal metrics, then switching to the admin dashboard to show the reading appear on the live feed and coverage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565C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0BCD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539496"/>
            <a:ext cx="1536192" cy="1609344"/>
          </a:xfrm>
          <a:prstGeom prst="ellipse">
            <a:avLst/>
          </a:prstGeom>
          <a:solidFill>
            <a:srgbClr val="1565C0"/>
          </a:solidFill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-1" y="45948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CrowdSenseNet</a:t>
            </a:r>
            <a:endParaRPr lang="en-US" sz="8000" b="1" dirty="0"/>
          </a:p>
        </p:txBody>
      </p:sp>
      <p:sp>
        <p:nvSpPr>
          <p:cNvPr id="7" name="Text 4"/>
          <p:cNvSpPr/>
          <p:nvPr/>
        </p:nvSpPr>
        <p:spPr>
          <a:xfrm>
            <a:off x="1499616" y="2400300"/>
            <a:ext cx="94484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Crowdsensed Drive Test Mobile Application</a:t>
            </a:r>
            <a:endParaRPr lang="en-US" sz="3200" b="1" dirty="0"/>
          </a:p>
          <a:p>
            <a:pPr marL="0" indent="0" algn="ctr">
              <a:buNone/>
            </a:pPr>
            <a:r>
              <a:rPr lang="en-US" sz="32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Coverage Prediction</a:t>
            </a:r>
            <a:endParaRPr lang="en-US" sz="3200" b="1" dirty="0"/>
          </a:p>
        </p:txBody>
      </p:sp>
      <p:sp>
        <p:nvSpPr>
          <p:cNvPr id="8" name="Shape 5"/>
          <p:cNvSpPr/>
          <p:nvPr/>
        </p:nvSpPr>
        <p:spPr>
          <a:xfrm>
            <a:off x="5272888" y="3794760"/>
            <a:ext cx="164592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0" y="3977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phone. Your network. Your map.</a:t>
            </a:r>
            <a:endParaRPr lang="en-US" sz="2400" b="1" dirty="0"/>
          </a:p>
        </p:txBody>
      </p:sp>
      <p:sp>
        <p:nvSpPr>
          <p:cNvPr id="10" name="Text 7"/>
          <p:cNvSpPr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13  •  CEF 440: Internet Programming and Mobile Programming</a:t>
            </a:r>
            <a:endParaRPr lang="en-US" sz="2400" b="1" dirty="0"/>
          </a:p>
        </p:txBody>
      </p:sp>
      <p:sp>
        <p:nvSpPr>
          <p:cNvPr id="11" name="Text 8"/>
          <p:cNvSpPr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and Technology  •  University of Buea</a:t>
            </a:r>
            <a:endParaRPr lang="en-US" sz="2000" b="1" dirty="0"/>
          </a:p>
        </p:txBody>
      </p:sp>
      <p:pic>
        <p:nvPicPr>
          <p:cNvPr id="12" name="CrowdSenseNet App Logo" descr="CrowdSenseNet App Logo" title="CrowdSenseNet App Logo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49824" y="805053"/>
            <a:ext cx="1053086" cy="10782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b="1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real-world network coverage is expensive and incomplete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94360" cy="59436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6" name="Image 0" descr="icons/r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drive testing</a:t>
            </a:r>
            <a:endParaRPr lang="en-US" sz="2400" b="1" dirty="0"/>
          </a:p>
        </p:txBody>
      </p:sp>
      <p:sp>
        <p:nvSpPr>
          <p:cNvPr id="8" name="Text 5"/>
          <p:cNvSpPr/>
          <p:nvPr/>
        </p:nvSpPr>
        <p:spPr>
          <a:xfrm>
            <a:off x="1737360" y="2194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drive routes with specialised equipment to record signal quality — accurate, but limited to main roads.</a:t>
            </a:r>
            <a:endParaRPr lang="en-US" b="1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474720"/>
            <a:ext cx="594360" cy="594360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11" name="Image 1" descr="icons/mone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611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291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&amp; hard to scale</a:t>
            </a:r>
            <a:endParaRPr lang="en-US" sz="2400" b="1" dirty="0"/>
          </a:p>
        </p:txBody>
      </p:sp>
      <p:sp>
        <p:nvSpPr>
          <p:cNvPr id="13" name="Text 9"/>
          <p:cNvSpPr/>
          <p:nvPr/>
        </p:nvSpPr>
        <p:spPr>
          <a:xfrm>
            <a:off x="1737360" y="36576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vehicles and equipment make wide, frequent coverage testing costly, especially in developing regions.</a:t>
            </a:r>
            <a:endParaRPr lang="en-US" b="1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937760"/>
            <a:ext cx="594360" cy="594360"/>
          </a:xfrm>
          <a:prstGeom prst="ellipse">
            <a:avLst/>
          </a:prstGeom>
          <a:solidFill>
            <a:srgbClr val="F44336"/>
          </a:solidFill>
          <a:ln/>
        </p:spPr>
      </p:sp>
      <p:pic>
        <p:nvPicPr>
          <p:cNvPr id="16" name="Image 2" descr="icons/hom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0749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754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where problems are worst</a:t>
            </a:r>
            <a:endParaRPr lang="en-US" sz="2400" b="1" dirty="0"/>
          </a:p>
        </p:txBody>
      </p:sp>
      <p:sp>
        <p:nvSpPr>
          <p:cNvPr id="18" name="Text 13"/>
          <p:cNvSpPr/>
          <p:nvPr/>
        </p:nvSpPr>
        <p:spPr>
          <a:xfrm>
            <a:off x="1737360" y="5120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Indoors, in rural communities, and off the main road network — exactly where users report the weakest signal.</a:t>
            </a:r>
            <a:endParaRPr lang="en-US" b="1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CrowdSenseNet  |  Group 13  |  CEF 440</a:t>
            </a:r>
            <a:endParaRPr lang="en-US" sz="1100" b="1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4000" b="1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ordinary Android smartphones into a crowdsensing network</a:t>
            </a:r>
            <a:endParaRPr lang="en-US" sz="2000" b="1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 a few expensive drive-test vehicles, </a:t>
            </a:r>
            <a:r>
              <a:rPr lang="en-US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CrowdSenseNet </a:t>
            </a:r>
            <a:r>
              <a:rPr lang="en-US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passively collects real cellular network measurements from everyday smartphones as people go about their normal lives — turning every phone into a lightweight, low-power measurement device.</a:t>
            </a:r>
            <a:endParaRPr lang="en-US" b="1" dirty="0"/>
          </a:p>
        </p:txBody>
      </p:sp>
      <p:sp>
        <p:nvSpPr>
          <p:cNvPr id="5" name="Shape 3"/>
          <p:cNvSpPr/>
          <p:nvPr/>
        </p:nvSpPr>
        <p:spPr>
          <a:xfrm>
            <a:off x="700888" y="260604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5F8FB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1048" y="2926080"/>
            <a:ext cx="822960" cy="82296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7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072" y="31181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9488" y="3931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Smartphone Users</a:t>
            </a:r>
            <a:endParaRPr lang="en-US" sz="2000" b="1" dirty="0"/>
          </a:p>
        </p:txBody>
      </p:sp>
      <p:sp>
        <p:nvSpPr>
          <p:cNvPr id="9" name="Text 6"/>
          <p:cNvSpPr/>
          <p:nvPr/>
        </p:nvSpPr>
        <p:spPr>
          <a:xfrm>
            <a:off x="975208" y="44348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users passively contribute signal readings as they move through different locations.</a:t>
            </a:r>
            <a:endParaRPr lang="en-US" sz="1600" b="1" dirty="0"/>
          </a:p>
        </p:txBody>
      </p:sp>
      <p:sp>
        <p:nvSpPr>
          <p:cNvPr id="10" name="Shape 7"/>
          <p:cNvSpPr/>
          <p:nvPr/>
        </p:nvSpPr>
        <p:spPr>
          <a:xfrm>
            <a:off x="4139032" y="38404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5880" y="3657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b="1" dirty="0"/>
          </a:p>
        </p:txBody>
      </p:sp>
      <p:sp>
        <p:nvSpPr>
          <p:cNvPr id="12" name="Shape 9"/>
          <p:cNvSpPr/>
          <p:nvPr/>
        </p:nvSpPr>
        <p:spPr>
          <a:xfrm>
            <a:off x="4404208" y="260604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5F8FB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84368" y="2926080"/>
            <a:ext cx="822960" cy="82296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4" name="Image 1" descr="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92" y="311810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2808" y="3931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Aggregation</a:t>
            </a:r>
            <a:endParaRPr lang="en-US" sz="2000" b="1" dirty="0"/>
          </a:p>
        </p:txBody>
      </p:sp>
      <p:sp>
        <p:nvSpPr>
          <p:cNvPr id="16" name="Text 12"/>
          <p:cNvSpPr/>
          <p:nvPr/>
        </p:nvSpPr>
        <p:spPr>
          <a:xfrm>
            <a:off x="4678528" y="44348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validated, anonymised, and combined into a single geospatial dataset.</a:t>
            </a:r>
            <a:endParaRPr lang="en-US" sz="1600" b="1" dirty="0"/>
          </a:p>
        </p:txBody>
      </p:sp>
      <p:sp>
        <p:nvSpPr>
          <p:cNvPr id="17" name="Shape 13"/>
          <p:cNvSpPr/>
          <p:nvPr/>
        </p:nvSpPr>
        <p:spPr>
          <a:xfrm>
            <a:off x="7842352" y="38404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769200" y="3657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b="1" dirty="0"/>
          </a:p>
        </p:txBody>
      </p:sp>
      <p:sp>
        <p:nvSpPr>
          <p:cNvPr id="19" name="Shape 15"/>
          <p:cNvSpPr/>
          <p:nvPr/>
        </p:nvSpPr>
        <p:spPr>
          <a:xfrm>
            <a:off x="8107528" y="260604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5F8FB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387688" y="2926080"/>
            <a:ext cx="822960" cy="8229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1" name="Image 2" descr="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712" y="3118104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36128" y="3931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Map</a:t>
            </a:r>
            <a:endParaRPr lang="en-US" sz="2000" b="1" dirty="0"/>
          </a:p>
        </p:txBody>
      </p:sp>
      <p:sp>
        <p:nvSpPr>
          <p:cNvPr id="23" name="Text 18"/>
          <p:cNvSpPr/>
          <p:nvPr/>
        </p:nvSpPr>
        <p:spPr>
          <a:xfrm>
            <a:off x="8381848" y="44348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data reveals real coverage patterns — including hidden dead zones.</a:t>
            </a:r>
            <a:endParaRPr lang="en-US" sz="1600" b="1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CrowdSenseNet  |  Group 13  |  CEF 440</a:t>
            </a:r>
            <a:endParaRPr lang="en-US" sz="1100" b="1" dirty="0"/>
          </a:p>
        </p:txBody>
      </p:sp>
      <p:sp>
        <p:nvSpPr>
          <p:cNvPr id="25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 Phone Measures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data elements captured through the device's built-in APIs</a:t>
            </a:r>
            <a:endParaRPr lang="en-US" sz="2400" b="1" dirty="0"/>
          </a:p>
        </p:txBody>
      </p:sp>
      <p:sp>
        <p:nvSpPr>
          <p:cNvPr id="4" name="Shape 2"/>
          <p:cNvSpPr/>
          <p:nvPr/>
        </p:nvSpPr>
        <p:spPr>
          <a:xfrm>
            <a:off x="586588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2620" y="1947672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6" name="Image 0" descr="icons/sign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80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46708" y="1892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RSRP</a:t>
            </a:r>
            <a:endParaRPr lang="en-US" sz="2400" b="1" dirty="0"/>
          </a:p>
        </p:txBody>
      </p:sp>
      <p:sp>
        <p:nvSpPr>
          <p:cNvPr id="8" name="Text 5"/>
          <p:cNvSpPr/>
          <p:nvPr/>
        </p:nvSpPr>
        <p:spPr>
          <a:xfrm>
            <a:off x="1546708" y="2258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signal received power</a:t>
            </a:r>
            <a:endParaRPr lang="en-US" b="1" dirty="0"/>
          </a:p>
        </p:txBody>
      </p:sp>
      <p:sp>
        <p:nvSpPr>
          <p:cNvPr id="9" name="Shape 6"/>
          <p:cNvSpPr/>
          <p:nvPr/>
        </p:nvSpPr>
        <p:spPr>
          <a:xfrm>
            <a:off x="4335628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1660" y="1947672"/>
            <a:ext cx="548640" cy="54864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1" name="Image 1" descr="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820" y="20848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5748" y="1892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RSRQ</a:t>
            </a:r>
            <a:endParaRPr lang="en-US" sz="2400" b="1" dirty="0"/>
          </a:p>
        </p:txBody>
      </p:sp>
      <p:sp>
        <p:nvSpPr>
          <p:cNvPr id="13" name="Text 9"/>
          <p:cNvSpPr/>
          <p:nvPr/>
        </p:nvSpPr>
        <p:spPr>
          <a:xfrm>
            <a:off x="5295748" y="2258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signal received quality</a:t>
            </a:r>
            <a:endParaRPr lang="en-US" b="1" dirty="0"/>
          </a:p>
        </p:txBody>
      </p:sp>
      <p:sp>
        <p:nvSpPr>
          <p:cNvPr id="14" name="Shape 10"/>
          <p:cNvSpPr/>
          <p:nvPr/>
        </p:nvSpPr>
        <p:spPr>
          <a:xfrm>
            <a:off x="8084668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0700" y="1947672"/>
            <a:ext cx="548640" cy="548640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16" name="Image 2" descr="icons/warn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860" y="20848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44788" y="1892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SINR</a:t>
            </a:r>
            <a:endParaRPr lang="en-US" sz="2400" b="1" dirty="0"/>
          </a:p>
        </p:txBody>
      </p:sp>
      <p:sp>
        <p:nvSpPr>
          <p:cNvPr id="18" name="Text 13"/>
          <p:cNvSpPr/>
          <p:nvPr/>
        </p:nvSpPr>
        <p:spPr>
          <a:xfrm>
            <a:off x="9044788" y="2258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Signal-to-interference-plus-noise ratio</a:t>
            </a:r>
            <a:endParaRPr lang="en-US" b="1" dirty="0"/>
          </a:p>
        </p:txBody>
      </p:sp>
      <p:sp>
        <p:nvSpPr>
          <p:cNvPr id="19" name="Shape 14"/>
          <p:cNvSpPr/>
          <p:nvPr/>
        </p:nvSpPr>
        <p:spPr>
          <a:xfrm>
            <a:off x="586588" y="35204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2620" y="3776472"/>
            <a:ext cx="548640" cy="54864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1" name="Image 3" descr="icons/satelli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80" y="391363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46708" y="3721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</a:t>
            </a:r>
            <a:endParaRPr lang="en-US" sz="2400" b="1" dirty="0"/>
          </a:p>
        </p:txBody>
      </p:sp>
      <p:sp>
        <p:nvSpPr>
          <p:cNvPr id="23" name="Text 17"/>
          <p:cNvSpPr/>
          <p:nvPr/>
        </p:nvSpPr>
        <p:spPr>
          <a:xfrm>
            <a:off x="1546708" y="40873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signal strength indicator</a:t>
            </a:r>
            <a:endParaRPr lang="en-US" b="1" dirty="0"/>
          </a:p>
        </p:txBody>
      </p:sp>
      <p:sp>
        <p:nvSpPr>
          <p:cNvPr id="24" name="Shape 18"/>
          <p:cNvSpPr/>
          <p:nvPr/>
        </p:nvSpPr>
        <p:spPr>
          <a:xfrm>
            <a:off x="4335628" y="35204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1660" y="3776472"/>
            <a:ext cx="548640" cy="548640"/>
          </a:xfrm>
          <a:prstGeom prst="ellipse">
            <a:avLst/>
          </a:prstGeom>
          <a:solidFill>
            <a:srgbClr val="F44336"/>
          </a:solidFill>
          <a:ln/>
        </p:spPr>
      </p:sp>
      <p:pic>
        <p:nvPicPr>
          <p:cNvPr id="26" name="Image 4" descr="icons/mark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820" y="391363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95748" y="3721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</a:t>
            </a:r>
            <a:endParaRPr lang="en-US" sz="2400" b="1" dirty="0"/>
          </a:p>
        </p:txBody>
      </p:sp>
      <p:sp>
        <p:nvSpPr>
          <p:cNvPr id="28" name="Text 21"/>
          <p:cNvSpPr/>
          <p:nvPr/>
        </p:nvSpPr>
        <p:spPr>
          <a:xfrm>
            <a:off x="5295748" y="40873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tagged to every reading</a:t>
            </a:r>
            <a:endParaRPr lang="en-US" b="1" dirty="0"/>
          </a:p>
        </p:txBody>
      </p:sp>
      <p:sp>
        <p:nvSpPr>
          <p:cNvPr id="29" name="Shape 22"/>
          <p:cNvSpPr/>
          <p:nvPr/>
        </p:nvSpPr>
        <p:spPr>
          <a:xfrm>
            <a:off x="8084668" y="35204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40700" y="3776472"/>
            <a:ext cx="548640" cy="54864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31" name="Image 5" descr="icons/clo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860" y="391363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44788" y="3721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ID &amp; Timestamp</a:t>
            </a:r>
            <a:endParaRPr lang="en-US" sz="2400" b="1" dirty="0"/>
          </a:p>
        </p:txBody>
      </p:sp>
      <p:sp>
        <p:nvSpPr>
          <p:cNvPr id="33" name="Text 25"/>
          <p:cNvSpPr/>
          <p:nvPr/>
        </p:nvSpPr>
        <p:spPr>
          <a:xfrm>
            <a:off x="9044788" y="40873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cell and exact collection time</a:t>
            </a:r>
            <a:endParaRPr lang="en-US" b="1" dirty="0"/>
          </a:p>
        </p:txBody>
      </p:sp>
      <p:sp>
        <p:nvSpPr>
          <p:cNvPr id="34" name="Text 26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anonymised on-device before it ever leaves the phone — no names, no phone numbers, no IMEI.</a:t>
            </a:r>
            <a:endParaRPr lang="en-US" sz="2000" b="1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CrowdSenseNet  |  Group 13  |  CEF 440</a:t>
            </a:r>
            <a:endParaRPr lang="en-US" sz="1200" b="1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4000" b="1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working together, end to end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700888" y="1691640"/>
            <a:ext cx="3383280" cy="3703320"/>
          </a:xfrm>
          <a:prstGeom prst="roundRect">
            <a:avLst>
              <a:gd name="adj" fmla="val 2703"/>
            </a:avLst>
          </a:prstGeom>
          <a:solidFill>
            <a:srgbClr val="F5F8FB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08480" y="1965960"/>
            <a:ext cx="768096" cy="768096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6" name="Image 0" descr="icons/mob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60" y="21488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3768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2400" b="1" dirty="0"/>
          </a:p>
        </p:txBody>
      </p:sp>
      <p:sp>
        <p:nvSpPr>
          <p:cNvPr id="8" name="Text 5"/>
          <p:cNvSpPr/>
          <p:nvPr/>
        </p:nvSpPr>
        <p:spPr>
          <a:xfrm>
            <a:off x="883768" y="3227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1066648" y="36576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Jetpack Compose (MVVM)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TelephonyManager &amp; GPS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Room database</a:t>
            </a:r>
            <a:endParaRPr lang="en-US" sz="1600" b="1" dirty="0"/>
          </a:p>
        </p:txBody>
      </p:sp>
      <p:sp>
        <p:nvSpPr>
          <p:cNvPr id="10" name="Text 7"/>
          <p:cNvSpPr/>
          <p:nvPr/>
        </p:nvSpPr>
        <p:spPr>
          <a:xfrm>
            <a:off x="4065880" y="3246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b="1" dirty="0"/>
          </a:p>
        </p:txBody>
      </p:sp>
      <p:sp>
        <p:nvSpPr>
          <p:cNvPr id="11" name="Shape 8"/>
          <p:cNvSpPr/>
          <p:nvPr/>
        </p:nvSpPr>
        <p:spPr>
          <a:xfrm>
            <a:off x="4404208" y="1691640"/>
            <a:ext cx="3383280" cy="3703320"/>
          </a:xfrm>
          <a:prstGeom prst="roundRect">
            <a:avLst>
              <a:gd name="adj" fmla="val 2703"/>
            </a:avLst>
          </a:prstGeom>
          <a:solidFill>
            <a:srgbClr val="F5F8FB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3" name="Image 1" descr="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214884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7088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2400" b="1" dirty="0"/>
          </a:p>
        </p:txBody>
      </p:sp>
      <p:sp>
        <p:nvSpPr>
          <p:cNvPr id="15" name="Text 11"/>
          <p:cNvSpPr/>
          <p:nvPr/>
        </p:nvSpPr>
        <p:spPr>
          <a:xfrm>
            <a:off x="4587088" y="3227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Storage</a:t>
            </a:r>
            <a:endParaRPr lang="en-US" sz="1600" b="1" dirty="0"/>
          </a:p>
        </p:txBody>
      </p:sp>
      <p:sp>
        <p:nvSpPr>
          <p:cNvPr id="16" name="Text 12"/>
          <p:cNvSpPr/>
          <p:nvPr/>
        </p:nvSpPr>
        <p:spPr>
          <a:xfrm>
            <a:off x="4769968" y="36576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REST API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zone classification</a:t>
            </a:r>
            <a:endParaRPr lang="en-US" sz="1600" b="1" dirty="0"/>
          </a:p>
        </p:txBody>
      </p:sp>
      <p:sp>
        <p:nvSpPr>
          <p:cNvPr id="17" name="Text 13"/>
          <p:cNvSpPr/>
          <p:nvPr/>
        </p:nvSpPr>
        <p:spPr>
          <a:xfrm>
            <a:off x="7769200" y="3246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b="1" dirty="0"/>
          </a:p>
        </p:txBody>
      </p:sp>
      <p:sp>
        <p:nvSpPr>
          <p:cNvPr id="18" name="Shape 14"/>
          <p:cNvSpPr/>
          <p:nvPr/>
        </p:nvSpPr>
        <p:spPr>
          <a:xfrm>
            <a:off x="8107528" y="1691640"/>
            <a:ext cx="3383280" cy="3703320"/>
          </a:xfrm>
          <a:prstGeom prst="roundRect">
            <a:avLst>
              <a:gd name="adj" fmla="val 2703"/>
            </a:avLst>
          </a:prstGeom>
          <a:solidFill>
            <a:srgbClr val="F5F8FB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15120" y="1965960"/>
            <a:ext cx="768096" cy="768096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0" name="Image 2" descr="icons/deskto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8000" y="2148840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90408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2400" b="1" dirty="0"/>
          </a:p>
        </p:txBody>
      </p:sp>
      <p:sp>
        <p:nvSpPr>
          <p:cNvPr id="22" name="Text 17"/>
          <p:cNvSpPr/>
          <p:nvPr/>
        </p:nvSpPr>
        <p:spPr>
          <a:xfrm>
            <a:off x="8290408" y="3227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 Action</a:t>
            </a:r>
            <a:endParaRPr lang="en-US" sz="1600" b="1" dirty="0"/>
          </a:p>
        </p:txBody>
      </p:sp>
      <p:sp>
        <p:nvSpPr>
          <p:cNvPr id="23" name="Text 18"/>
          <p:cNvSpPr/>
          <p:nvPr/>
        </p:nvSpPr>
        <p:spPr>
          <a:xfrm>
            <a:off x="8473288" y="36576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&amp; heatmap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explorer &amp; reports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GeoJSON export</a:t>
            </a:r>
            <a:endParaRPr lang="en-US" sz="1600" b="1" dirty="0"/>
          </a:p>
        </p:txBody>
      </p:sp>
      <p:sp>
        <p:nvSpPr>
          <p:cNvPr id="24" name="Text 1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communication between the device and backend uses HTTPS with TLS 1.2 or higher.</a:t>
            </a:r>
            <a:endParaRPr lang="en-US" sz="1600" b="1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CrowdSenseNet  |  Group 13  |  CEF 440</a:t>
            </a:r>
            <a:endParaRPr lang="en-US" sz="1100" b="1" dirty="0"/>
          </a:p>
        </p:txBody>
      </p:sp>
      <p:sp>
        <p:nvSpPr>
          <p:cNvPr id="26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Real-World Connectivity</a:t>
            </a:r>
            <a:endParaRPr lang="en-US" sz="4000" b="1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readings are never lost, even without internet access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6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2219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</a:t>
            </a:r>
            <a:endParaRPr lang="en-US" sz="2800" b="1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are stored securely on the device in a local Room (SQLite) database. Collection, viewing, and history all keep working offline.</a:t>
            </a:r>
            <a:endParaRPr lang="en-US" b="1" dirty="0"/>
          </a:p>
        </p:txBody>
      </p:sp>
      <p:sp>
        <p:nvSpPr>
          <p:cNvPr id="9" name="Shape 6"/>
          <p:cNvSpPr/>
          <p:nvPr/>
        </p:nvSpPr>
        <p:spPr>
          <a:xfrm>
            <a:off x="6675120" y="173736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95160" y="2057400"/>
            <a:ext cx="685800" cy="68580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1" name="Image 1" descr="icons/uploa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22219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Restored</a:t>
            </a:r>
            <a:endParaRPr lang="en-US" sz="2800" b="1" dirty="0"/>
          </a:p>
        </p:txBody>
      </p:sp>
      <p:sp>
        <p:nvSpPr>
          <p:cNvPr id="13" name="Text 9"/>
          <p:cNvSpPr/>
          <p:nvPr/>
        </p:nvSpPr>
        <p:spPr>
          <a:xfrm>
            <a:off x="7040880" y="292608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WiFi becomes available, buffered readings are automatically batched and uploaded over an authenticated HTTPS connection.</a:t>
            </a:r>
            <a:endParaRPr lang="en-US" b="1" dirty="0"/>
          </a:p>
        </p:txBody>
      </p:sp>
      <p:sp>
        <p:nvSpPr>
          <p:cNvPr id="14" name="Text 10"/>
          <p:cNvSpPr/>
          <p:nvPr/>
        </p:nvSpPr>
        <p:spPr>
          <a:xfrm>
            <a:off x="5806440" y="25831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b="1" dirty="0"/>
          </a:p>
        </p:txBody>
      </p:sp>
      <p:sp>
        <p:nvSpPr>
          <p:cNvPr id="15" name="Shape 11"/>
          <p:cNvSpPr/>
          <p:nvPr/>
        </p:nvSpPr>
        <p:spPr>
          <a:xfrm>
            <a:off x="700888" y="44348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83768" y="45445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5%</a:t>
            </a:r>
            <a:endParaRPr lang="en-US" sz="3600" b="1" dirty="0"/>
          </a:p>
        </p:txBody>
      </p:sp>
      <p:sp>
        <p:nvSpPr>
          <p:cNvPr id="17" name="Text 13"/>
          <p:cNvSpPr/>
          <p:nvPr/>
        </p:nvSpPr>
        <p:spPr>
          <a:xfrm>
            <a:off x="883768" y="5093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 per hour</a:t>
            </a:r>
            <a:endParaRPr lang="en-US" sz="1600" b="1" dirty="0"/>
          </a:p>
        </p:txBody>
      </p:sp>
      <p:sp>
        <p:nvSpPr>
          <p:cNvPr id="18" name="Shape 14"/>
          <p:cNvSpPr/>
          <p:nvPr/>
        </p:nvSpPr>
        <p:spPr>
          <a:xfrm>
            <a:off x="4404208" y="44348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587088" y="45445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taps</a:t>
            </a:r>
            <a:endParaRPr lang="en-US" sz="3600" b="1" dirty="0"/>
          </a:p>
        </p:txBody>
      </p:sp>
      <p:sp>
        <p:nvSpPr>
          <p:cNvPr id="20" name="Text 16"/>
          <p:cNvSpPr/>
          <p:nvPr/>
        </p:nvSpPr>
        <p:spPr>
          <a:xfrm>
            <a:off x="4587088" y="5093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 or stop collection</a:t>
            </a:r>
            <a:endParaRPr lang="en-US" sz="1600" b="1" dirty="0"/>
          </a:p>
        </p:txBody>
      </p:sp>
      <p:sp>
        <p:nvSpPr>
          <p:cNvPr id="21" name="Shape 17"/>
          <p:cNvSpPr/>
          <p:nvPr/>
        </p:nvSpPr>
        <p:spPr>
          <a:xfrm>
            <a:off x="8107528" y="44348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290408" y="45445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b="1" dirty="0"/>
          </a:p>
        </p:txBody>
      </p:sp>
      <p:sp>
        <p:nvSpPr>
          <p:cNvPr id="23" name="Text 19"/>
          <p:cNvSpPr/>
          <p:nvPr/>
        </p:nvSpPr>
        <p:spPr>
          <a:xfrm>
            <a:off x="8290408" y="5093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— no login required</a:t>
            </a:r>
            <a:endParaRPr lang="en-US" sz="1600" b="1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CrowdSenseNet  |  Group 13  |  CEF 440</a:t>
            </a:r>
            <a:endParaRPr lang="en-US" sz="1100" b="1" dirty="0"/>
          </a:p>
        </p:txBody>
      </p:sp>
      <p:sp>
        <p:nvSpPr>
          <p:cNvPr id="25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Signals Into Action</a:t>
            </a:r>
            <a:endParaRPr lang="en-US" sz="4000" b="1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engineers see coverage holes and export data for real decisions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Map</a:t>
            </a:r>
            <a:endParaRPr lang="en-US" sz="2000" b="1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51460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2514600"/>
            <a:ext cx="859536" cy="608076"/>
          </a:xfrm>
          <a:prstGeom prst="rect">
            <a:avLst/>
          </a:prstGeom>
          <a:solidFill>
            <a:srgbClr val="FF980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51460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14600"/>
            <a:ext cx="859536" cy="608076"/>
          </a:xfrm>
          <a:prstGeom prst="rect">
            <a:avLst/>
          </a:prstGeom>
          <a:solidFill>
            <a:srgbClr val="F44336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17754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3177540"/>
            <a:ext cx="859536" cy="608076"/>
          </a:xfrm>
          <a:prstGeom prst="rect">
            <a:avLst/>
          </a:prstGeom>
          <a:solidFill>
            <a:srgbClr val="FF980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3177540"/>
            <a:ext cx="859536" cy="608076"/>
          </a:xfrm>
          <a:prstGeom prst="rect">
            <a:avLst/>
          </a:prstGeom>
          <a:solidFill>
            <a:srgbClr val="9E9E9E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317754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177540"/>
            <a:ext cx="859536" cy="608076"/>
          </a:xfrm>
          <a:prstGeom prst="rect">
            <a:avLst/>
          </a:prstGeom>
          <a:solidFill>
            <a:srgbClr val="FF980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84048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384048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840480"/>
            <a:ext cx="859536" cy="608076"/>
          </a:xfrm>
          <a:prstGeom prst="rect">
            <a:avLst/>
          </a:prstGeom>
          <a:solidFill>
            <a:srgbClr val="F44336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384048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840480"/>
            <a:ext cx="859536" cy="608076"/>
          </a:xfrm>
          <a:prstGeom prst="rect">
            <a:avLst/>
          </a:prstGeom>
          <a:solidFill>
            <a:srgbClr val="FF980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50342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450342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503420"/>
            <a:ext cx="859536" cy="608076"/>
          </a:xfrm>
          <a:prstGeom prst="rect">
            <a:avLst/>
          </a:prstGeom>
          <a:solidFill>
            <a:srgbClr val="9E9E9E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4503420"/>
            <a:ext cx="859536" cy="608076"/>
          </a:xfrm>
          <a:prstGeom prst="rect">
            <a:avLst/>
          </a:prstGeom>
          <a:solidFill>
            <a:srgbClr val="FF980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503420"/>
            <a:ext cx="859536" cy="608076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349240"/>
            <a:ext cx="164592" cy="16459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52943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(&gt; -80 dBm)</a:t>
            </a:r>
            <a:endParaRPr lang="en-US" sz="1400" b="1" dirty="0"/>
          </a:p>
        </p:txBody>
      </p:sp>
      <p:sp>
        <p:nvSpPr>
          <p:cNvPr id="28" name="Shape 26"/>
          <p:cNvSpPr/>
          <p:nvPr/>
        </p:nvSpPr>
        <p:spPr>
          <a:xfrm>
            <a:off x="914400" y="5623560"/>
            <a:ext cx="164592" cy="16459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55686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(-80 to -100 dBm)</a:t>
            </a:r>
            <a:endParaRPr lang="en-US" sz="1400" b="1" dirty="0"/>
          </a:p>
        </p:txBody>
      </p:sp>
      <p:sp>
        <p:nvSpPr>
          <p:cNvPr id="30" name="Shape 28"/>
          <p:cNvSpPr/>
          <p:nvPr/>
        </p:nvSpPr>
        <p:spPr>
          <a:xfrm>
            <a:off x="914400" y="5897880"/>
            <a:ext cx="164592" cy="164592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58430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hole (&lt; -110 dBm)</a:t>
            </a:r>
            <a:endParaRPr lang="en-US" sz="1400" b="1" dirty="0"/>
          </a:p>
        </p:txBody>
      </p:sp>
      <p:sp>
        <p:nvSpPr>
          <p:cNvPr id="32" name="Shape 30"/>
          <p:cNvSpPr/>
          <p:nvPr/>
        </p:nvSpPr>
        <p:spPr>
          <a:xfrm>
            <a:off x="914400" y="6172200"/>
            <a:ext cx="164592" cy="164592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61173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data</a:t>
            </a:r>
            <a:endParaRPr lang="en-US" sz="1400" b="1" dirty="0"/>
          </a:p>
        </p:txBody>
      </p:sp>
      <p:sp>
        <p:nvSpPr>
          <p:cNvPr id="34" name="Shape 32"/>
          <p:cNvSpPr/>
          <p:nvPr/>
        </p:nvSpPr>
        <p:spPr>
          <a:xfrm>
            <a:off x="6309360" y="17373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35" name="Image 0" descr="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847088"/>
            <a:ext cx="237744" cy="23774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9494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Feed</a:t>
            </a:r>
            <a:endParaRPr lang="en-US" sz="2000" b="1" dirty="0"/>
          </a:p>
        </p:txBody>
      </p:sp>
      <p:sp>
        <p:nvSpPr>
          <p:cNvPr id="37" name="Text 34"/>
          <p:cNvSpPr/>
          <p:nvPr/>
        </p:nvSpPr>
        <p:spPr>
          <a:xfrm>
            <a:off x="6949440" y="20299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uploads appear on the dashboard within seconds via a real-time WebSocket channel.</a:t>
            </a:r>
            <a:endParaRPr lang="en-US" sz="1600" b="1" dirty="0"/>
          </a:p>
        </p:txBody>
      </p:sp>
      <p:sp>
        <p:nvSpPr>
          <p:cNvPr id="38" name="Shape 35"/>
          <p:cNvSpPr/>
          <p:nvPr/>
        </p:nvSpPr>
        <p:spPr>
          <a:xfrm>
            <a:off x="6309360" y="2761488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39" name="Image 1" descr="icons/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871216"/>
            <a:ext cx="237744" cy="237744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949440" y="27157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Reading Explorer</a:t>
            </a:r>
            <a:endParaRPr lang="en-US" sz="2000" b="1" dirty="0"/>
          </a:p>
        </p:txBody>
      </p:sp>
      <p:sp>
        <p:nvSpPr>
          <p:cNvPr id="41" name="Text 37"/>
          <p:cNvSpPr/>
          <p:nvPr/>
        </p:nvSpPr>
        <p:spPr>
          <a:xfrm>
            <a:off x="6949440" y="305409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search historical readings by date, operator, region, or coverage class.</a:t>
            </a:r>
            <a:endParaRPr lang="en-US" sz="1600" b="1" dirty="0"/>
          </a:p>
        </p:txBody>
      </p:sp>
      <p:sp>
        <p:nvSpPr>
          <p:cNvPr id="42" name="Shape 38"/>
          <p:cNvSpPr/>
          <p:nvPr/>
        </p:nvSpPr>
        <p:spPr>
          <a:xfrm>
            <a:off x="6309360" y="3785616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43" name="Image 2" descr="icons/exportIc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3895344"/>
            <a:ext cx="237744" cy="237744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949440" y="37398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</a:t>
            </a:r>
            <a:endParaRPr lang="en-US" sz="2000" b="1" dirty="0"/>
          </a:p>
        </p:txBody>
      </p:sp>
      <p:sp>
        <p:nvSpPr>
          <p:cNvPr id="45" name="Text 40"/>
          <p:cNvSpPr/>
          <p:nvPr/>
        </p:nvSpPr>
        <p:spPr>
          <a:xfrm>
            <a:off x="6949440" y="407822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coverage reports and export CSV / GeoJSON datasets for tools like QGIS.</a:t>
            </a:r>
            <a:endParaRPr lang="en-US" sz="1600" b="1" dirty="0"/>
          </a:p>
        </p:txBody>
      </p:sp>
      <p:sp>
        <p:nvSpPr>
          <p:cNvPr id="46" name="Shape 41"/>
          <p:cNvSpPr/>
          <p:nvPr/>
        </p:nvSpPr>
        <p:spPr>
          <a:xfrm>
            <a:off x="6309360" y="4809744"/>
            <a:ext cx="457200" cy="457200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47" name="Image 3" descr="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919472"/>
            <a:ext cx="237744" cy="237744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949440" y="47640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2000" b="1" dirty="0"/>
          </a:p>
        </p:txBody>
      </p:sp>
      <p:sp>
        <p:nvSpPr>
          <p:cNvPr id="49" name="Text 43"/>
          <p:cNvSpPr/>
          <p:nvPr/>
        </p:nvSpPr>
        <p:spPr>
          <a:xfrm>
            <a:off x="6949440" y="510235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reading can ever be traced back to a name, phone number, or device owner.</a:t>
            </a:r>
            <a:endParaRPr lang="en-US" sz="1600" b="1" dirty="0"/>
          </a:p>
        </p:txBody>
      </p:sp>
      <p:sp>
        <p:nvSpPr>
          <p:cNvPr id="50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CrowdSenseNet  |  Group 13  |  CEF 440</a:t>
            </a:r>
            <a:endParaRPr lang="en-US" sz="1100" b="1" dirty="0"/>
          </a:p>
        </p:txBody>
      </p:sp>
      <p:sp>
        <p:nvSpPr>
          <p:cNvPr id="51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Development Journey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548640" y="105894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mobile application development lifecycle</a:t>
            </a:r>
            <a:endParaRPr lang="en-US" sz="2400" b="1" dirty="0"/>
          </a:p>
        </p:txBody>
      </p:sp>
      <p:sp>
        <p:nvSpPr>
          <p:cNvPr id="4" name="Shape 2"/>
          <p:cNvSpPr/>
          <p:nvPr/>
        </p:nvSpPr>
        <p:spPr>
          <a:xfrm>
            <a:off x="1455268" y="2560320"/>
            <a:ext cx="92811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43788" y="2148840"/>
            <a:ext cx="822960" cy="82296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Image 0" descr="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812" y="2340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8108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b="1" dirty="0"/>
          </a:p>
        </p:txBody>
      </p:sp>
      <p:sp>
        <p:nvSpPr>
          <p:cNvPr id="8" name="Shape 5"/>
          <p:cNvSpPr/>
          <p:nvPr/>
        </p:nvSpPr>
        <p:spPr>
          <a:xfrm>
            <a:off x="609448" y="32004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2600" y="329184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2000" b="1" dirty="0"/>
          </a:p>
        </p:txBody>
      </p:sp>
      <p:sp>
        <p:nvSpPr>
          <p:cNvPr id="10" name="Text 7"/>
          <p:cNvSpPr/>
          <p:nvPr/>
        </p:nvSpPr>
        <p:spPr>
          <a:xfrm>
            <a:off x="700888" y="37490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Interviews, 102-user survey, brainstorming</a:t>
            </a:r>
            <a:endParaRPr lang="en-US" sz="1200" b="1" dirty="0"/>
          </a:p>
        </p:txBody>
      </p:sp>
      <p:sp>
        <p:nvSpPr>
          <p:cNvPr id="11" name="Shape 8"/>
          <p:cNvSpPr/>
          <p:nvPr/>
        </p:nvSpPr>
        <p:spPr>
          <a:xfrm>
            <a:off x="2900020" y="2148840"/>
            <a:ext cx="822960" cy="82296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2" name="Image 1" descr="icons/rul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044" y="23408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434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b="1" dirty="0"/>
          </a:p>
        </p:txBody>
      </p:sp>
      <p:sp>
        <p:nvSpPr>
          <p:cNvPr id="14" name="Shape 10"/>
          <p:cNvSpPr/>
          <p:nvPr/>
        </p:nvSpPr>
        <p:spPr>
          <a:xfrm>
            <a:off x="2465680" y="32004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538832" y="329184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000" b="1" dirty="0"/>
          </a:p>
        </p:txBody>
      </p:sp>
      <p:sp>
        <p:nvSpPr>
          <p:cNvPr id="16" name="Text 12"/>
          <p:cNvSpPr/>
          <p:nvPr/>
        </p:nvSpPr>
        <p:spPr>
          <a:xfrm>
            <a:off x="2557120" y="37490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diagrams, MVVM architecture</a:t>
            </a:r>
            <a:endParaRPr lang="en-US" sz="1200" b="1" dirty="0"/>
          </a:p>
        </p:txBody>
      </p:sp>
      <p:sp>
        <p:nvSpPr>
          <p:cNvPr id="17" name="Shape 13"/>
          <p:cNvSpPr/>
          <p:nvPr/>
        </p:nvSpPr>
        <p:spPr>
          <a:xfrm>
            <a:off x="4756252" y="2148840"/>
            <a:ext cx="822960" cy="82296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8" name="Image 2" descr="icons/bru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276" y="234086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30572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b="1" dirty="0"/>
          </a:p>
        </p:txBody>
      </p:sp>
      <p:sp>
        <p:nvSpPr>
          <p:cNvPr id="20" name="Shape 15"/>
          <p:cNvSpPr/>
          <p:nvPr/>
        </p:nvSpPr>
        <p:spPr>
          <a:xfrm>
            <a:off x="4321912" y="32004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395064" y="329184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2000" b="1" dirty="0"/>
          </a:p>
        </p:txBody>
      </p:sp>
      <p:sp>
        <p:nvSpPr>
          <p:cNvPr id="22" name="Text 17"/>
          <p:cNvSpPr/>
          <p:nvPr/>
        </p:nvSpPr>
        <p:spPr>
          <a:xfrm>
            <a:off x="4413352" y="37490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screens, brand identity</a:t>
            </a:r>
            <a:endParaRPr lang="en-US" sz="1200" b="1" dirty="0"/>
          </a:p>
        </p:txBody>
      </p:sp>
      <p:sp>
        <p:nvSpPr>
          <p:cNvPr id="23" name="Shape 18"/>
          <p:cNvSpPr/>
          <p:nvPr/>
        </p:nvSpPr>
        <p:spPr>
          <a:xfrm>
            <a:off x="6612484" y="2148840"/>
            <a:ext cx="822960" cy="82296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4" name="Image 3" descr="icons/cod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508" y="234086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86804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b="1" dirty="0"/>
          </a:p>
        </p:txBody>
      </p:sp>
      <p:sp>
        <p:nvSpPr>
          <p:cNvPr id="26" name="Shape 20"/>
          <p:cNvSpPr/>
          <p:nvPr/>
        </p:nvSpPr>
        <p:spPr>
          <a:xfrm>
            <a:off x="6178144" y="32004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251296" y="329184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000" b="1" dirty="0"/>
          </a:p>
        </p:txBody>
      </p:sp>
      <p:sp>
        <p:nvSpPr>
          <p:cNvPr id="28" name="Text 22"/>
          <p:cNvSpPr/>
          <p:nvPr/>
        </p:nvSpPr>
        <p:spPr>
          <a:xfrm>
            <a:off x="6269584" y="37490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app, Node.js backend</a:t>
            </a:r>
            <a:endParaRPr lang="en-US" sz="1200" b="1" dirty="0"/>
          </a:p>
        </p:txBody>
      </p:sp>
      <p:sp>
        <p:nvSpPr>
          <p:cNvPr id="29" name="Shape 23"/>
          <p:cNvSpPr/>
          <p:nvPr/>
        </p:nvSpPr>
        <p:spPr>
          <a:xfrm>
            <a:off x="8468716" y="2148840"/>
            <a:ext cx="822960" cy="82296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0" name="Image 4" descr="icon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0740" y="2340864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743036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b="1" dirty="0"/>
          </a:p>
        </p:txBody>
      </p:sp>
      <p:sp>
        <p:nvSpPr>
          <p:cNvPr id="32" name="Shape 25"/>
          <p:cNvSpPr/>
          <p:nvPr/>
        </p:nvSpPr>
        <p:spPr>
          <a:xfrm>
            <a:off x="8034376" y="32004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8107528" y="329184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000" b="1" dirty="0"/>
          </a:p>
        </p:txBody>
      </p:sp>
      <p:sp>
        <p:nvSpPr>
          <p:cNvPr id="34" name="Text 27"/>
          <p:cNvSpPr/>
          <p:nvPr/>
        </p:nvSpPr>
        <p:spPr>
          <a:xfrm>
            <a:off x="8125816" y="37490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schema</a:t>
            </a:r>
            <a:endParaRPr lang="en-US" sz="1200" b="1" dirty="0"/>
          </a:p>
        </p:txBody>
      </p:sp>
      <p:sp>
        <p:nvSpPr>
          <p:cNvPr id="35" name="Shape 28"/>
          <p:cNvSpPr/>
          <p:nvPr/>
        </p:nvSpPr>
        <p:spPr>
          <a:xfrm>
            <a:off x="10324948" y="2148840"/>
            <a:ext cx="822960" cy="82296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6" name="Image 5" descr="icon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6972" y="2340864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599268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b="1" dirty="0"/>
          </a:p>
        </p:txBody>
      </p:sp>
      <p:sp>
        <p:nvSpPr>
          <p:cNvPr id="38" name="Shape 30"/>
          <p:cNvSpPr/>
          <p:nvPr/>
        </p:nvSpPr>
        <p:spPr>
          <a:xfrm>
            <a:off x="9890608" y="320040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9963760" y="329184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000" b="1" dirty="0"/>
          </a:p>
        </p:txBody>
      </p:sp>
      <p:sp>
        <p:nvSpPr>
          <p:cNvPr id="40" name="Text 32"/>
          <p:cNvSpPr/>
          <p:nvPr/>
        </p:nvSpPr>
        <p:spPr>
          <a:xfrm>
            <a:off x="9982048" y="37490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database, integration tests</a:t>
            </a:r>
            <a:endParaRPr lang="en-US" sz="1200" b="1" dirty="0"/>
          </a:p>
        </p:txBody>
      </p:sp>
      <p:sp>
        <p:nvSpPr>
          <p:cNvPr id="41" name="Text 33"/>
          <p:cNvSpPr/>
          <p:nvPr/>
        </p:nvSpPr>
        <p:spPr>
          <a:xfrm>
            <a:off x="777240" y="5257799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traces back to real evidence — stakeholder interviews, a 102-respondent survey, and hands-on analysis of existing apps.</a:t>
            </a:r>
            <a:endParaRPr lang="en-US" sz="2000" b="1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CrowdSenseNet  |  Group 13  |  CEF 440</a:t>
            </a:r>
            <a:endParaRPr lang="en-US" sz="1200" b="1" dirty="0"/>
          </a:p>
        </p:txBody>
      </p:sp>
      <p:sp>
        <p:nvSpPr>
          <p:cNvPr id="43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029200" cy="5029200"/>
          </a:xfrm>
          <a:prstGeom prst="ellipse">
            <a:avLst/>
          </a:prstGeom>
          <a:solidFill>
            <a:srgbClr val="1565C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00BC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Scalable, Low-Cost Alternative</a:t>
            </a:r>
            <a:endParaRPr lang="en-US" sz="4400" b="1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Traditional Drive Testing</a:t>
            </a:r>
            <a:endParaRPr lang="en-US" sz="3600" b="1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7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31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042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data from many everyday users, not a handful of vehicles</a:t>
            </a:r>
            <a:endParaRPr lang="en-US" sz="2400" b="1" dirty="0"/>
          </a:p>
        </p:txBody>
      </p:sp>
      <p:sp>
        <p:nvSpPr>
          <p:cNvPr id="9" name="Shape 6"/>
          <p:cNvSpPr/>
          <p:nvPr/>
        </p:nvSpPr>
        <p:spPr>
          <a:xfrm>
            <a:off x="822960" y="2990088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0" name="Image 1" descr="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8152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626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Privacy-first: fully anonymised, no login, no personal data collected</a:t>
            </a:r>
            <a:endParaRPr lang="en-US" sz="2400" b="1" dirty="0"/>
          </a:p>
        </p:txBody>
      </p:sp>
      <p:sp>
        <p:nvSpPr>
          <p:cNvPr id="12" name="Shape 8"/>
          <p:cNvSpPr/>
          <p:nvPr/>
        </p:nvSpPr>
        <p:spPr>
          <a:xfrm>
            <a:off x="822960" y="3648456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3" name="Image 2" descr="icons/batter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3989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6210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battery-efficient background sensing users can trust</a:t>
            </a:r>
            <a:endParaRPr lang="en-US" sz="2400" b="1" dirty="0"/>
          </a:p>
        </p:txBody>
      </p:sp>
      <p:sp>
        <p:nvSpPr>
          <p:cNvPr id="15" name="Shape 10"/>
          <p:cNvSpPr/>
          <p:nvPr/>
        </p:nvSpPr>
        <p:spPr>
          <a:xfrm>
            <a:off x="822960" y="4306824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6" name="Image 3" descr="icons/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98264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2793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turning raw signals into actionable coverage insight</a:t>
            </a:r>
            <a:endParaRPr lang="en-US" sz="2400" b="1" dirty="0"/>
          </a:p>
        </p:txBody>
      </p:sp>
      <p:sp>
        <p:nvSpPr>
          <p:cNvPr id="18" name="Text 12"/>
          <p:cNvSpPr/>
          <p:nvPr/>
        </p:nvSpPr>
        <p:spPr>
          <a:xfrm>
            <a:off x="731520" y="5349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000" b="1" dirty="0"/>
          </a:p>
        </p:txBody>
      </p:sp>
      <p:sp>
        <p:nvSpPr>
          <p:cNvPr id="19" name="Text 13"/>
          <p:cNvSpPr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now demonstrate how CrowdSenseNet works.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33695" y="967155"/>
            <a:ext cx="8686800" cy="5424854"/>
          </a:xfrm>
          <a:prstGeom prst="roundRect">
            <a:avLst>
              <a:gd name="adj" fmla="val 1123"/>
            </a:avLst>
          </a:prstGeom>
          <a:solidFill>
            <a:srgbClr val="0D1B2A"/>
          </a:solidFill>
          <a:ln w="127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CrowdSenseNet  |  Group 13  |  CEF 440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" name="DEMO 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79631" y="967155"/>
            <a:ext cx="3784209" cy="54248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51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836</Words>
  <Application>Microsoft Office PowerPoint</Application>
  <PresentationFormat>Widescreen</PresentationFormat>
  <Paragraphs>145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CrowdSenseNet</dc:title>
  <dc:subject>PptxGenJS Presentation</dc:subject>
  <dc:creator>Group 13</dc:creator>
  <cp:lastModifiedBy>IMELE AZAFA JOSE</cp:lastModifiedBy>
  <cp:revision>4</cp:revision>
  <dcterms:created xsi:type="dcterms:W3CDTF">2026-07-04T12:40:20Z</dcterms:created>
  <dcterms:modified xsi:type="dcterms:W3CDTF">2026-07-04T13:15:52Z</dcterms:modified>
</cp:coreProperties>
</file>